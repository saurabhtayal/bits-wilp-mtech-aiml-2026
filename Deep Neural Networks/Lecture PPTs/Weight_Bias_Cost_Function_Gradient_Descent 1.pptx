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Graphs use a synthetic eight-point teaching dataset and original gradient-descent calculations prepared for this presentation.
[/Sources]
Introduce the three linked views: parameters change while the cost 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Graphs use a synthetic eight-point teaching dataset and original gradient-descent calculations prepared for this presentation.
[/Sources]
Read vertically at any epoch: the top and middle graphs give model parameters; the bottom graph gives the resulting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Graphs use a synthetic eight-point teaching dataset and original gradient-descent calculations prepared for this presentation.
[/Sources]
Explain that a large early gradient causes rapid movement. Near the minimum, the updates become smaller.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Graphs use a synthetic eight-point teaching dataset and original gradient-descent calculations prepared for this presentation.
[/Sources]
Unlike the weight, the bias continues to adjust slowly because both parameters jointly determine the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Graphs use a synthetic eight-point teaching dataset and original gradient-descent calculations prepared for this presentation.
[/Sources]
Use the steep initial fall to show fast learning. The later flat region indicates diminishing improvements, not necessarily zero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Graphs use a synthetic eight-point teaching dataset and original gradient-descent calculations prepared for this presentation.
[/Sources]
Have students compare successive rows and identify when parameter updates and cost reductions become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Graphs use a synthetic eight-point teaching dataset and original gradient-descent calculations prepared for this presentation.
[/Sources]
Close by connecting the parameter graphs to the line-fitting animation.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AIMLZG511 | Gradient Descent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509760" y="64739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Dr. Eht E Sham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14300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Gradient Descent in Linear Regression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20574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BD5E1"/>
                </a:solidFill>
              </a:rPr>
              <a:t>Weight, bias, and cost function graphs across training epochs</a:t>
            </a:r>
            <a:endParaRPr lang="en-US" sz="2400" dirty="0"/>
          </a:p>
        </p:txBody>
      </p:sp>
      <p:pic>
        <p:nvPicPr>
          <p:cNvPr id="5" name="Image 0" descr="combined_grap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72029"/>
            <a:ext cx="3840480" cy="42396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4023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93C5FD"/>
                </a:solidFill>
              </a:rPr>
              <a:t>ŷ = wx + b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777240" y="4846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Learning rate α = 0.01 | 80 epochs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How the Three Graphs Are Connected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Each epoch uses the gradients to update parameters and then recalculates the cost.</a:t>
            </a:r>
            <a:endParaRPr lang="en-US" sz="1300" dirty="0"/>
          </a:p>
        </p:txBody>
      </p:sp>
      <p:pic>
        <p:nvPicPr>
          <p:cNvPr id="4" name="Image 0" descr="combined_grap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542" y="1234440"/>
            <a:ext cx="4431476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37960" y="1417320"/>
            <a:ext cx="4754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651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37960" y="1417320"/>
            <a:ext cx="82296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39128" y="15636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Weight w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739128" y="1938528"/>
            <a:ext cx="4389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Changes the slope of the prediction line.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37960" y="2788920"/>
            <a:ext cx="4754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651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788920"/>
            <a:ext cx="82296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39128" y="29352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Bias b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39128" y="3310128"/>
            <a:ext cx="4389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Changes the vertical position of the line.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37960" y="4160520"/>
            <a:ext cx="4754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651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37960" y="4160520"/>
            <a:ext cx="82296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39128" y="43068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</a:rPr>
              <a:t>Cost J(w,b)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739128" y="4681728"/>
            <a:ext cx="4389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Measures mean squared prediction error.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Weight Update Graph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The weight rises quickly and then changes more gradually.</a:t>
            </a:r>
            <a:endParaRPr lang="en-US" sz="1300" dirty="0"/>
          </a:p>
        </p:txBody>
      </p:sp>
      <p:pic>
        <p:nvPicPr>
          <p:cNvPr id="4" name="Image 0" descr="weight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23684"/>
            <a:ext cx="7406640" cy="39135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463040"/>
            <a:ext cx="3291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651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0" y="1463040"/>
            <a:ext cx="82296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30768" y="16093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Initial value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30768" y="1984248"/>
            <a:ext cx="29260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w = 0.0000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0" y="3017520"/>
            <a:ext cx="3291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651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0" y="3017520"/>
            <a:ext cx="82296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30768" y="31638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After 5 epochs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430768" y="3538728"/>
            <a:ext cx="29260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w = 2.0672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0" y="4572000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651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0" y="4572000"/>
            <a:ext cx="82296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30768" y="47183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After 80 epochs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430768" y="5093208"/>
            <a:ext cx="2926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w = 2.0908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Bias Update Graph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The bias shifts the fitted line vertically during training.</a:t>
            </a:r>
            <a:endParaRPr lang="en-US" sz="1300" dirty="0"/>
          </a:p>
        </p:txBody>
      </p:sp>
      <p:pic>
        <p:nvPicPr>
          <p:cNvPr id="4" name="Image 0" descr="bias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23684"/>
            <a:ext cx="7406640" cy="39135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463040"/>
            <a:ext cx="3291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651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0" y="1463040"/>
            <a:ext cx="82296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30768" y="16093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Initial value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30768" y="1984248"/>
            <a:ext cx="29260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b = 0.0000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0" y="3017520"/>
            <a:ext cx="3291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651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0" y="3017520"/>
            <a:ext cx="82296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30768" y="31638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After 20 epochs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430768" y="3538728"/>
            <a:ext cx="29260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b = 0.4233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0" y="4572000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651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0" y="4572000"/>
            <a:ext cx="82296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30768" y="47183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After 80 epochs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430768" y="5093208"/>
            <a:ext cx="2926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b = 0.5418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Cost Function Reduction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Mean Squared Error falls sharply during the first few updates.</a:t>
            </a:r>
            <a:endParaRPr lang="en-US" sz="1300" dirty="0"/>
          </a:p>
        </p:txBody>
      </p:sp>
      <p:pic>
        <p:nvPicPr>
          <p:cNvPr id="4" name="Image 0" descr="cost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23684"/>
            <a:ext cx="7406640" cy="39135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32588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651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0" y="1325880"/>
            <a:ext cx="82296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30768" y="14721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</a:rPr>
              <a:t>Epoch 0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30768" y="1847088"/>
            <a:ext cx="29260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J = 122.1338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0" y="269748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651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0" y="2697480"/>
            <a:ext cx="82296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30768" y="28437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</a:rPr>
              <a:t>Epoch 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430768" y="3218688"/>
            <a:ext cx="29260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J = 6.3355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0" y="406908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651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0" y="4069080"/>
            <a:ext cx="82296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30768" y="42153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</a:rPr>
              <a:t>Epoch 10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430768" y="4590288"/>
            <a:ext cx="29260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J = 0.1753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29600" y="5440680"/>
            <a:ext cx="3291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651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29600" y="5440680"/>
            <a:ext cx="82296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30768" y="55869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Epoch 80: J = 0.1457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430768" y="5961888"/>
            <a:ext cx="2926080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The curve is nearly flat.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Parameter and Cost Values by Epoch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Numerical checkpoints corresponding to the three graphs.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1325880"/>
          <a:ext cx="9875520" cy="44805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Epoch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Weight w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Bias b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Cost J(w,b)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0.0000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0.0000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122.1338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1.1147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0.2007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27.5793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1.6429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0.2972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6.3355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2.0672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0.3800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0.2478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2.1147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0.4005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0.1753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2.1119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0.4233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0.1699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2.1043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0.4660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0.1605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80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2.0908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0.5418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0.1457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280160" y="58064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C3AED"/>
                </a:solidFill>
              </a:rPr>
              <a:t>Observation: the largest reduction in cost occurs during the earliest parameter updates.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Interpretation: From Updates to Best Fit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Gradient descent coordinates parameter movement to reduce prediction error.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5880" y="1417320"/>
            <a:ext cx="9601200" cy="731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2743200"/>
            <a:ext cx="2514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651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2743200"/>
            <a:ext cx="82296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28895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1. Update w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3264408"/>
            <a:ext cx="21488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Adjust line slope.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502152" y="2743200"/>
            <a:ext cx="2514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651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02152" y="2743200"/>
            <a:ext cx="82296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03320" y="28895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2. Update b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703320" y="3264408"/>
            <a:ext cx="21488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Adjust line position.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64224" y="2743200"/>
            <a:ext cx="2514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651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64224" y="2743200"/>
            <a:ext cx="82296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65392" y="28895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</a:rPr>
              <a:t>3. Recompute J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65392" y="3264408"/>
            <a:ext cx="21488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Measure new error.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226296" y="2743200"/>
            <a:ext cx="2514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651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226296" y="2743200"/>
            <a:ext cx="82296" cy="1508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27464" y="28895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4. Repeat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427464" y="3264408"/>
            <a:ext cx="21488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Continue toward convergence.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60120" y="50749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</a:rPr>
              <a:t>As w and b stabilize, the cost curve flattens and the regression line approaches its best fit.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Weight, Bias, and Cost Function Graphs</dc:title>
  <dc:subject>Gradient Descent for Linear Regression</dc:subject>
  <dc:creator>Eht E Sham .</dc:creator>
  <cp:lastModifiedBy>Eht E Sham .</cp:lastModifiedBy>
  <cp:revision>4</cp:revision>
  <dcterms:created xsi:type="dcterms:W3CDTF">2026-08-19T13:10:54Z</dcterms:created>
  <dcterms:modified xsi:type="dcterms:W3CDTF">2026-08-19T13:36:01Z</dcterms:modified>
</cp:coreProperties>
</file>