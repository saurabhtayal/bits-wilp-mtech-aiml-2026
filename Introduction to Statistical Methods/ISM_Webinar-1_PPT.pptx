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3" r:id="rId2"/>
  </p:sldMasterIdLst>
  <p:notesMasterIdLst>
    <p:notesMasterId r:id="rId44"/>
  </p:notesMasterIdLst>
  <p:sldIdLst>
    <p:sldId id="256" r:id="rId3"/>
    <p:sldId id="257" r:id="rId4"/>
    <p:sldId id="359" r:id="rId5"/>
    <p:sldId id="408" r:id="rId6"/>
    <p:sldId id="448" r:id="rId7"/>
    <p:sldId id="450" r:id="rId8"/>
    <p:sldId id="449" r:id="rId9"/>
    <p:sldId id="409" r:id="rId10"/>
    <p:sldId id="433" r:id="rId11"/>
    <p:sldId id="410" r:id="rId12"/>
    <p:sldId id="491" r:id="rId13"/>
    <p:sldId id="495" r:id="rId14"/>
    <p:sldId id="452" r:id="rId15"/>
    <p:sldId id="494" r:id="rId16"/>
    <p:sldId id="432" r:id="rId17"/>
    <p:sldId id="453" r:id="rId18"/>
    <p:sldId id="412" r:id="rId19"/>
    <p:sldId id="455" r:id="rId20"/>
    <p:sldId id="434" r:id="rId21"/>
    <p:sldId id="428" r:id="rId22"/>
    <p:sldId id="416" r:id="rId23"/>
    <p:sldId id="474" r:id="rId24"/>
    <p:sldId id="417" r:id="rId25"/>
    <p:sldId id="429" r:id="rId26"/>
    <p:sldId id="419" r:id="rId27"/>
    <p:sldId id="484" r:id="rId28"/>
    <p:sldId id="485" r:id="rId29"/>
    <p:sldId id="486" r:id="rId30"/>
    <p:sldId id="430" r:id="rId31"/>
    <p:sldId id="414" r:id="rId32"/>
    <p:sldId id="413" r:id="rId33"/>
    <p:sldId id="496" r:id="rId34"/>
    <p:sldId id="439" r:id="rId35"/>
    <p:sldId id="487" r:id="rId36"/>
    <p:sldId id="475" r:id="rId37"/>
    <p:sldId id="499" r:id="rId38"/>
    <p:sldId id="500" r:id="rId39"/>
    <p:sldId id="441" r:id="rId40"/>
    <p:sldId id="445" r:id="rId41"/>
    <p:sldId id="498" r:id="rId42"/>
    <p:sldId id="45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03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p:cViewPr varScale="1">
        <p:scale>
          <a:sx n="96" d="100"/>
          <a:sy n="96" d="100"/>
        </p:scale>
        <p:origin x="187"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ay Saxena" userId="243f8f25-be9b-4e14-b939-7968a689d462" providerId="ADAL" clId="{EE322136-EAAC-4D74-98F7-7CAE718EE41D}"/>
    <pc:docChg chg="modSld">
      <pc:chgData name="Ajay Saxena" userId="243f8f25-be9b-4e14-b939-7968a689d462" providerId="ADAL" clId="{EE322136-EAAC-4D74-98F7-7CAE718EE41D}" dt="2026-08-26T11:02:25.530" v="25" actId="20577"/>
      <pc:docMkLst>
        <pc:docMk/>
      </pc:docMkLst>
      <pc:sldChg chg="modSp mod">
        <pc:chgData name="Ajay Saxena" userId="243f8f25-be9b-4e14-b939-7968a689d462" providerId="ADAL" clId="{EE322136-EAAC-4D74-98F7-7CAE718EE41D}" dt="2026-08-26T09:26:15.306" v="5" actId="20577"/>
        <pc:sldMkLst>
          <pc:docMk/>
          <pc:sldMk cId="3896728606" sldId="257"/>
        </pc:sldMkLst>
        <pc:spChg chg="mod">
          <ac:chgData name="Ajay Saxena" userId="243f8f25-be9b-4e14-b939-7968a689d462" providerId="ADAL" clId="{EE322136-EAAC-4D74-98F7-7CAE718EE41D}" dt="2026-08-26T09:26:15.306" v="5" actId="20577"/>
          <ac:spMkLst>
            <pc:docMk/>
            <pc:sldMk cId="3896728606" sldId="257"/>
            <ac:spMk id="2" creationId="{00000000-0000-0000-0000-000000000000}"/>
          </ac:spMkLst>
        </pc:spChg>
      </pc:sldChg>
      <pc:sldChg chg="modSp mod">
        <pc:chgData name="Ajay Saxena" userId="243f8f25-be9b-4e14-b939-7968a689d462" providerId="ADAL" clId="{EE322136-EAAC-4D74-98F7-7CAE718EE41D}" dt="2026-08-26T11:02:25.530" v="25" actId="20577"/>
        <pc:sldMkLst>
          <pc:docMk/>
          <pc:sldMk cId="3642942531" sldId="359"/>
        </pc:sldMkLst>
        <pc:spChg chg="mod">
          <ac:chgData name="Ajay Saxena" userId="243f8f25-be9b-4e14-b939-7968a689d462" providerId="ADAL" clId="{EE322136-EAAC-4D74-98F7-7CAE718EE41D}" dt="2026-08-26T11:02:25.530" v="25" actId="20577"/>
          <ac:spMkLst>
            <pc:docMk/>
            <pc:sldMk cId="3642942531" sldId="359"/>
            <ac:spMk id="2"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0T10:31:03.093"/>
    </inkml:context>
    <inkml:brush xml:id="br0">
      <inkml:brushProperty name="width" value="0.35" units="cm"/>
      <inkml:brushProperty name="height" value="0.35" units="cm"/>
      <inkml:brushProperty name="color" value="#FFFFFF"/>
    </inkml:brush>
  </inkml:definitions>
  <inkml:trace contextRef="#ctx0" brushRef="#br0">0 1 24557,'0'146'0,"1306"-146"0,-1306-146 0,-1306 146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0T10:31:10.039"/>
    </inkml:context>
    <inkml:brush xml:id="br0">
      <inkml:brushProperty name="width" value="0.35" units="cm"/>
      <inkml:brushProperty name="height" value="0.35" units="cm"/>
      <inkml:brushProperty name="color" value="#FFFFFF"/>
    </inkml:brush>
  </inkml:definitions>
  <inkml:trace contextRef="#ctx0" brushRef="#br0">0 1 24575,'963'0'-1365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1T14:51:35.654"/>
    </inkml:context>
    <inkml:brush xml:id="br0">
      <inkml:brushProperty name="width" value="0.08" units="cm"/>
      <inkml:brushProperty name="height" value="0.08" units="cm"/>
    </inkml:brush>
  </inkml:definitions>
  <inkml:trace contextRef="#ctx0" brushRef="#br0">98 20 13492,'-19'0'0,"1"-2"0,3-3 0,4 1 1313,2 6-801,3 7 0,8 2-706,4-5 1,-1-4 0,8-2 223,2 0 0,3 0 0,1 0 0,1 0 82,-1 0 1,7-2 0,1-2 0,-1-3-10,2 3 1,-6-5 0,4 3 0,-4 1-130,-3 3 0,-6 2 1,0 0 66,3 0 1,-5 0-78,2 0 0,-11 0 4,-2 0 1,-2 0-1,-11 0 1,-3 2 204,-1 5 0,-3-5 0,1 5 0,1-3 10,5 3 0,-4-5 0,4 6-111,-5 1 1,-1-7 0,-1 5-120,1-5 1,5 5 101,1-1 0,7 1 115,-7-7-50,8 0 1,-3-3-1,10-1-183,4-2 0,-1-1 0,8 7-144,2 0 0,-4 0 86,2 0 1,0 0 0,5-2 66,-5-5 0,-2 5 0,-5-4-226,7 3 325,-4 3-34,0 0 0,-12 0-10,-3 0 0,1 3 1,-8 1-1,-2 2 35,-2-1 1,-3-1-1,1 1 73,-1 1 0,3 3 1,1-5-28,3 3 0,2 1 1,-4-3-55,2 1 0,9 3-114,-3-2-57,5-5 1,4 6 0,5-8 167,6 0 0,-2 0 0,2-2 0,2-2 66,2-3 1,3-6 0,0 5-36,-1-3 0,-6 6 0,-2-3 0,0 1-48,0 1 1,-5-1-104,7 7 0,-6 0-230,6 0 0,-11 0 382,-2 0 0,-2 0 0,-11 0 158,-2 0 0,-3 0 1,-1 0-184,-1 0 0,1 0 0,-1 0 135,0 0 1,1 0-190,-1 0 0,7 0 0,2 2 18,2 5-187,3-5 301,6 7-237,0-9 1,2 0 0,5 0 141,6 0 0,4 0 1,3 0-12,-1 0 1,1 0 0,0 0 15,-1 0-172,1 0 161,-1 0 176,-8 0-431,-2 0 374,-26 0 1,3 0 0,-12 0-1,5 0-132,1 0 0,7 0 1,0 0-14,-2 0 1,4 0 0,0 2-95,2 4-21,-6-3 283,13 5-526,-7-8 224,9 0-163,0-8 0,9 5 329,4-3 1,-2 4-1,2 2 1,2 0-19,2 0 1,-4-7 0,0 1 0,3 1 38,1 3 1,1 0-1,-3-3 76,-2-1 1,0-1-62,7 7 312,-10-8-395,-1 6 0,-11-7 1,-2 11-1,-5 2 191,-2 3 1,4-1 0,-6-6-174,-2 0 0,4 7 1,-2-1 81,-2-1 1,-2-3-38,-3-2 0,0 0 0,1 0-34,-1 0 0,7 7 0,0-1-79,-2-2 0,4 1 157,-2 1 371,8-3-414,-3 5 1,10-8-46,4 0 1,3-2-1,6-2-76,-2-3 1,1 1 0,5 6 46,1 0 0,-7 0 0,0 0-14,2 0 1,-4 0-80,2 0 6,0 0 27,-2 0 257,-2 0-35,-9 0-181,0 0 1,-9 0 60,-4 0 1,-4 0-1,-3 0-61,0 0 0,1 2 1,-1 2-8,1 3 0,1 1 0,3-3 47,2 1 1,6 1 76,-6-7 24,9 0 0,-5-2 410,9-5-669,0 5 0,9-13 152,4 8 0,4-6 69,3 7 1,0-1 8,-1 7 0,-6 0 0,0 0-59,3 0 1,1 0-123,3 0-214,-1 0 318,1 0-205,-9 0-754,-3 0 0,-10 2-1020,-4 5 1873,3 4 1,3 8 0,11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EEF704-4E86-4EF8-8871-F76FA819328B}" type="datetimeFigureOut">
              <a:rPr lang="en-IN" smtClean="0"/>
              <a:t>26-08-2026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7B2D41-09E1-4199-88F0-343E3DAC747A}" type="slidenum">
              <a:rPr lang="en-IN" smtClean="0"/>
              <a:t>‹#›</a:t>
            </a:fld>
            <a:endParaRPr lang="en-IN"/>
          </a:p>
        </p:txBody>
      </p:sp>
    </p:spTree>
    <p:extLst>
      <p:ext uri="{BB962C8B-B14F-4D97-AF65-F5344CB8AC3E}">
        <p14:creationId xmlns:p14="http://schemas.microsoft.com/office/powerpoint/2010/main" val="474329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B4DC539-A988-4E18-B0A6-EC119262E663}"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1325379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B4DC539-A988-4E18-B0A6-EC119262E663}"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1407957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4DC539-A988-4E18-B0A6-EC119262E663}"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3435666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B4DC539-A988-4E18-B0A6-EC119262E663}"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29449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B4DC539-A988-4E18-B0A6-EC119262E663}" type="datetimeFigureOut">
              <a:rPr lang="en-IN" smtClean="0"/>
              <a:t>26-08-2026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769188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B4DC539-A988-4E18-B0A6-EC119262E663}" type="datetimeFigureOut">
              <a:rPr lang="en-IN" smtClean="0"/>
              <a:t>26-08-2026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1741544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4DC539-A988-4E18-B0A6-EC119262E663}" type="datetimeFigureOut">
              <a:rPr lang="en-IN" smtClean="0"/>
              <a:t>26-08-2026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3973101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4DC539-A988-4E18-B0A6-EC119262E663}"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1068944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4DC539-A988-4E18-B0A6-EC119262E663}" type="datetimeFigureOut">
              <a:rPr lang="en-IN" smtClean="0"/>
              <a:t>26-08-2026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3667351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B4DC539-A988-4E18-B0A6-EC119262E663}"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951121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B4DC539-A988-4E18-B0A6-EC119262E663}" type="datetimeFigureOut">
              <a:rPr lang="en-IN" smtClean="0"/>
              <a:t>26-08-2026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AF801D-8B73-43CD-A7E5-E33B018E3C8A}" type="slidenum">
              <a:rPr lang="en-IN" smtClean="0"/>
              <a:t>‹#›</a:t>
            </a:fld>
            <a:endParaRPr lang="en-IN"/>
          </a:p>
        </p:txBody>
      </p:sp>
    </p:spTree>
    <p:extLst>
      <p:ext uri="{BB962C8B-B14F-4D97-AF65-F5344CB8AC3E}">
        <p14:creationId xmlns:p14="http://schemas.microsoft.com/office/powerpoint/2010/main" val="1541043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ea typeface="+mn-ea"/>
                <a:cs typeface="Arial"/>
              </a:rPr>
              <a:t>BITS</a:t>
            </a:r>
            <a:r>
              <a:rPr lang="en-US" sz="2900" spc="-150" dirty="0">
                <a:solidFill>
                  <a:schemeClr val="bg1"/>
                </a:solidFill>
                <a:latin typeface="Arial"/>
                <a:ea typeface="+mn-ea"/>
                <a:cs typeface="Arial"/>
              </a:rPr>
              <a:t> Pilani</a:t>
            </a:r>
          </a:p>
        </p:txBody>
      </p:sp>
      <p:sp>
        <p:nvSpPr>
          <p:cNvPr id="11" name="TextBox 10"/>
          <p:cNvSpPr txBox="1">
            <a:spLocks noChangeArrowheads="1"/>
          </p:cNvSpPr>
          <p:nvPr userDrawn="1"/>
        </p:nvSpPr>
        <p:spPr bwMode="auto">
          <a:xfrm>
            <a:off x="203200" y="5667376"/>
            <a:ext cx="2540000" cy="276225"/>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98508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a:spLocks noChangeArrowheads="1"/>
          </p:cNvSpPr>
          <p:nvPr userDrawn="1"/>
        </p:nvSpPr>
        <p:spPr bwMode="auto">
          <a:xfrm>
            <a:off x="0" y="4281488"/>
            <a:ext cx="12192000" cy="2576512"/>
          </a:xfrm>
          <a:prstGeom prst="rect">
            <a:avLst/>
          </a:prstGeom>
          <a:solidFill>
            <a:schemeClr val="bg1"/>
          </a:solidFill>
          <a:ln w="9525">
            <a:solidFill>
              <a:srgbClr val="4A7EBB"/>
            </a:solidFill>
            <a:miter lim="800000"/>
            <a:headEnd/>
            <a:tailEnd/>
          </a:ln>
          <a:effectLst>
            <a:outerShdw blurRad="63500" dist="23000" dir="5400000" rotWithShape="0">
              <a:srgbClr val="000000">
                <a:alpha val="34999"/>
              </a:srgbClr>
            </a:outerShdw>
          </a:effectLst>
        </p:spPr>
        <p:txBody>
          <a:bodyPr anchor="ctr"/>
          <a:lstStyle/>
          <a:p>
            <a:pPr algn="ctr" eaLnBrk="1" fontAlgn="auto" hangingPunct="1">
              <a:spcBef>
                <a:spcPts val="0"/>
              </a:spcBef>
              <a:spcAft>
                <a:spcPts val="0"/>
              </a:spcAft>
              <a:defRPr/>
            </a:pPr>
            <a:endParaRPr lang="en-US" sz="1800">
              <a:solidFill>
                <a:schemeClr val="lt1"/>
              </a:solidFill>
              <a:latin typeface="+mn-lt"/>
              <a:ea typeface="+mn-ea"/>
            </a:endParaRPr>
          </a:p>
        </p:txBody>
      </p:sp>
      <p:pic>
        <p:nvPicPr>
          <p:cNvPr id="5" name="Picture 8" descr="Picture 7.png"/>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ea typeface="+mn-ea"/>
                <a:cs typeface="Arial"/>
              </a:rPr>
              <a:t>BITS</a:t>
            </a:r>
            <a:r>
              <a:rPr lang="en-US" sz="2900" spc="-150" dirty="0">
                <a:solidFill>
                  <a:schemeClr val="bg1"/>
                </a:solidFill>
                <a:latin typeface="Arial"/>
                <a:ea typeface="+mn-ea"/>
                <a:cs typeface="Arial"/>
              </a:rPr>
              <a:t> Pilani</a:t>
            </a:r>
          </a:p>
        </p:txBody>
      </p:sp>
      <p:sp>
        <p:nvSpPr>
          <p:cNvPr id="10" name="TextBox 9"/>
          <p:cNvSpPr txBox="1">
            <a:spLocks noChangeArrowheads="1"/>
          </p:cNvSpPr>
          <p:nvPr userDrawn="1"/>
        </p:nvSpPr>
        <p:spPr bwMode="auto">
          <a:xfrm>
            <a:off x="9448800" y="1171576"/>
            <a:ext cx="2540000" cy="276225"/>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01403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defRPr/>
            </a:pPr>
            <a:r>
              <a:rPr lang="en-US" sz="1100" b="1">
                <a:solidFill>
                  <a:srgbClr val="101141"/>
                </a:solidFill>
              </a:rPr>
              <a:t>BITS </a:t>
            </a:r>
            <a:r>
              <a:rPr 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74463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GB">
              <a:solidFill>
                <a:prstClr val="black"/>
              </a:solidFill>
            </a:endParaRPr>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GB">
              <a:solidFill>
                <a:prstClr val="black"/>
              </a:solidFill>
            </a:endParaRPr>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389A1433-2BD6-474A-B042-E5F0856EF487}" type="slidenum">
              <a:rPr lang="en-GB">
                <a:solidFill>
                  <a:prstClr val="black"/>
                </a:solidFill>
              </a:rPr>
              <a:pPr>
                <a:defRPr/>
              </a:pPr>
              <a:t>‹#›</a:t>
            </a:fld>
            <a:endParaRPr lang="en-GB">
              <a:solidFill>
                <a:prstClr val="black"/>
              </a:solidFill>
            </a:endParaRPr>
          </a:p>
        </p:txBody>
      </p:sp>
    </p:spTree>
    <p:extLst>
      <p:ext uri="{BB962C8B-B14F-4D97-AF65-F5344CB8AC3E}">
        <p14:creationId xmlns:p14="http://schemas.microsoft.com/office/powerpoint/2010/main" val="3387447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7381" y="274638"/>
            <a:ext cx="8160907" cy="850106"/>
          </a:xfrm>
          <a:prstGeom prst="rect">
            <a:avLst/>
          </a:prstGeom>
        </p:spPr>
        <p:txBody>
          <a:bodyPr anchor="ctr"/>
          <a:lstStyle>
            <a:lvl1pPr algn="l">
              <a:defRPr sz="2400"/>
            </a:lvl1p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p:cNvSpPr>
            <a:spLocks noGrp="1"/>
          </p:cNvSpPr>
          <p:nvPr>
            <p:ph type="ftr" sz="quarter" idx="10"/>
          </p:nvPr>
        </p:nvSpPr>
        <p:spPr>
          <a:xfrm>
            <a:off x="2927351" y="6237291"/>
            <a:ext cx="5856816" cy="365125"/>
          </a:xfrm>
          <a:prstGeom prst="rect">
            <a:avLst/>
          </a:prstGeom>
        </p:spPr>
        <p:txBody>
          <a:bodyPr/>
          <a:lstStyle>
            <a:lvl1pPr algn="ctr">
              <a:defRPr sz="900" b="1"/>
            </a:lvl1pPr>
          </a:lstStyle>
          <a:p>
            <a:pPr>
              <a:defRPr/>
            </a:pPr>
            <a:endParaRPr lang="en-IN" dirty="0">
              <a:solidFill>
                <a:prstClr val="black"/>
              </a:solidFill>
            </a:endParaRPr>
          </a:p>
        </p:txBody>
      </p:sp>
      <p:sp>
        <p:nvSpPr>
          <p:cNvPr id="5" name="Slide Number Placeholder 5"/>
          <p:cNvSpPr>
            <a:spLocks noGrp="1"/>
          </p:cNvSpPr>
          <p:nvPr>
            <p:ph type="sldNum" sz="quarter" idx="11"/>
          </p:nvPr>
        </p:nvSpPr>
        <p:spPr>
          <a:xfrm>
            <a:off x="11377086" y="6237291"/>
            <a:ext cx="814916" cy="293687"/>
          </a:xfrm>
          <a:prstGeom prst="rect">
            <a:avLst/>
          </a:prstGeom>
        </p:spPr>
        <p:txBody>
          <a:bodyPr/>
          <a:lstStyle>
            <a:lvl1pPr>
              <a:defRPr sz="1200" b="1"/>
            </a:lvl1pPr>
          </a:lstStyle>
          <a:p>
            <a:pPr>
              <a:defRPr/>
            </a:pPr>
            <a:fld id="{78B23240-9A46-45DC-80D8-72E6138EF4CC}" type="slidenum">
              <a:rPr lang="en-IN">
                <a:solidFill>
                  <a:prstClr val="black"/>
                </a:solidFill>
              </a:rPr>
              <a:pPr>
                <a:defRPr/>
              </a:pPr>
              <a:t>‹#›</a:t>
            </a:fld>
            <a:endParaRPr lang="en-IN" dirty="0">
              <a:solidFill>
                <a:prstClr val="black"/>
              </a:solidFill>
            </a:endParaRPr>
          </a:p>
        </p:txBody>
      </p:sp>
    </p:spTree>
    <p:extLst>
      <p:ext uri="{BB962C8B-B14F-4D97-AF65-F5344CB8AC3E}">
        <p14:creationId xmlns:p14="http://schemas.microsoft.com/office/powerpoint/2010/main" val="33500236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DBD8A489-38BD-40B0-9083-7E99DA903139}"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3441708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6" name="Footer Placeholder 5"/>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7" name="Slide Number Placeholder 6"/>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6D38CB16-FC74-415F-A778-AFAE7BEAFAF6}"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2141430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8" name="Footer Placeholder 7"/>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9" name="Slide Number Placeholder 8"/>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36FB1E71-4690-4FD4-BBCF-A3779CD52565}"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39532922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4" name="Footer Placeholder 3"/>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5" name="Slide Number Placeholder 4"/>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9FD64774-6889-4F3F-87B3-82AF987C97C8}"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2095618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3" name="Footer Placeholder 2"/>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4" name="Slide Number Placeholder 3"/>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102715D1-A74F-4481-8AFF-0CF19F1A4227}"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26966655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a:prstGeom prst="rect">
            <a:avLst/>
          </a:prstGeo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6" name="Footer Placeholder 5"/>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7" name="Slide Number Placeholder 6"/>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4B936656-7811-4E10-ABA8-C743BA19F43F}"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3847811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6" name="Footer Placeholder 5"/>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7" name="Slide Number Placeholder 6"/>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7A0E505A-A9CD-4645-BB6F-663BC8294A50}"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16609343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0FB21827-D599-4054-9CED-35F966873CDF}"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20712844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609600" y="6356353"/>
            <a:ext cx="2844800" cy="365125"/>
          </a:xfrm>
          <a:prstGeom prst="rect">
            <a:avLst/>
          </a:prstGeom>
        </p:spPr>
        <p:txBody>
          <a:bodyPr/>
          <a:lstStyle>
            <a:lvl1pPr>
              <a:defRPr/>
            </a:lvl1pPr>
          </a:lstStyle>
          <a:p>
            <a:pPr>
              <a:defRPr/>
            </a:pPr>
            <a:endParaRPr lang="en-IN">
              <a:solidFill>
                <a:prstClr val="black"/>
              </a:solidFill>
            </a:endParaRPr>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lvl1pPr>
              <a:defRPr/>
            </a:lvl1pPr>
          </a:lstStyle>
          <a:p>
            <a:pPr>
              <a:defRPr/>
            </a:pPr>
            <a:endParaRPr lang="en-IN">
              <a:solidFill>
                <a:prstClr val="black"/>
              </a:solidFill>
            </a:endParaRPr>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lvl1pPr>
              <a:defRPr/>
            </a:lvl1pPr>
          </a:lstStyle>
          <a:p>
            <a:pPr>
              <a:defRPr/>
            </a:pPr>
            <a:fld id="{56872A46-881B-4CE5-A377-400F5AC5756F}" type="slidenum">
              <a:rPr lang="en-IN">
                <a:solidFill>
                  <a:prstClr val="black"/>
                </a:solidFill>
              </a:rPr>
              <a:pPr>
                <a:defRPr/>
              </a:pPr>
              <a:t>‹#›</a:t>
            </a:fld>
            <a:endParaRPr lang="en-IN">
              <a:solidFill>
                <a:prstClr val="black"/>
              </a:solidFill>
            </a:endParaRPr>
          </a:p>
        </p:txBody>
      </p:sp>
    </p:spTree>
    <p:extLst>
      <p:ext uri="{BB962C8B-B14F-4D97-AF65-F5344CB8AC3E}">
        <p14:creationId xmlns:p14="http://schemas.microsoft.com/office/powerpoint/2010/main" val="1387708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4.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4DC539-A988-4E18-B0A6-EC119262E663}" type="datetimeFigureOut">
              <a:rPr lang="en-IN" smtClean="0"/>
              <a:t>26-08-2026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F801D-8B73-43CD-A7E5-E33B018E3C8A}" type="slidenum">
              <a:rPr lang="en-IN" smtClean="0"/>
              <a:t>‹#›</a:t>
            </a:fld>
            <a:endParaRPr lang="en-IN"/>
          </a:p>
        </p:txBody>
      </p:sp>
    </p:spTree>
    <p:extLst>
      <p:ext uri="{BB962C8B-B14F-4D97-AF65-F5344CB8AC3E}">
        <p14:creationId xmlns:p14="http://schemas.microsoft.com/office/powerpoint/2010/main" val="3563906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ext Placeholder 2"/>
          <p:cNvSpPr>
            <a:spLocks noGrp="1"/>
          </p:cNvSpPr>
          <p:nvPr>
            <p:ph type="body" idx="1"/>
          </p:nvPr>
        </p:nvSpPr>
        <p:spPr bwMode="auto">
          <a:xfrm>
            <a:off x="609600" y="1600203"/>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p:nvSpPr>
        <p:spPr>
          <a:xfrm>
            <a:off x="4368800" y="6596066"/>
            <a:ext cx="7823200" cy="219291"/>
          </a:xfrm>
          <a:prstGeom prst="rect">
            <a:avLst/>
          </a:prstGeom>
          <a:noFill/>
        </p:spPr>
        <p:txBody>
          <a:bodyPr>
            <a:spAutoFit/>
          </a:bodyPr>
          <a:lstStyle/>
          <a:p>
            <a:pPr algn="r">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pic>
        <p:nvPicPr>
          <p:cNvPr id="3076" name="Picture 7" descr="Picture 7.png"/>
          <p:cNvPicPr>
            <a:picLocks noChangeAspect="1"/>
          </p:cNvPicPr>
          <p:nvPr/>
        </p:nvPicPr>
        <p:blipFill>
          <a:blip r:embed="rId13"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3077" name="Group 8"/>
          <p:cNvGrpSpPr>
            <a:grpSpLocks/>
          </p:cNvGrpSpPr>
          <p:nvPr/>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a:solidFill>
                  <a:prstClr val="white"/>
                </a:solidFill>
              </a:endParaRPr>
            </a:p>
          </p:txBody>
        </p:sp>
      </p:grpSp>
      <p:grpSp>
        <p:nvGrpSpPr>
          <p:cNvPr id="3078" name="Group 12"/>
          <p:cNvGrpSpPr>
            <a:grpSpLocks/>
          </p:cNvGrpSpPr>
          <p:nvPr/>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a:solidFill>
                  <a:prstClr val="white"/>
                </a:solidFill>
              </a:endParaRPr>
            </a:p>
          </p:txBody>
        </p:sp>
      </p:grpSp>
    </p:spTree>
    <p:extLst>
      <p:ext uri="{BB962C8B-B14F-4D97-AF65-F5344CB8AC3E}">
        <p14:creationId xmlns:p14="http://schemas.microsoft.com/office/powerpoint/2010/main" val="3541201044"/>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hdr="0" ftr="0" dt="0"/>
  <p:txStyles>
    <p:titleStyle>
      <a:lvl1pPr algn="ctr" rtl="0" fontAlgn="base">
        <a:spcBef>
          <a:spcPct val="0"/>
        </a:spcBef>
        <a:spcAft>
          <a:spcPct val="0"/>
        </a:spcAft>
        <a:defRPr sz="3300" kern="1200">
          <a:solidFill>
            <a:schemeClr val="tx1"/>
          </a:solidFill>
          <a:latin typeface="+mj-lt"/>
          <a:ea typeface="+mj-ea"/>
          <a:cs typeface="+mj-cs"/>
        </a:defRPr>
      </a:lvl1pPr>
      <a:lvl2pPr algn="ctr" rtl="0" fontAlgn="base">
        <a:spcBef>
          <a:spcPct val="0"/>
        </a:spcBef>
        <a:spcAft>
          <a:spcPct val="0"/>
        </a:spcAft>
        <a:defRPr sz="3300">
          <a:solidFill>
            <a:schemeClr val="tx1"/>
          </a:solidFill>
          <a:latin typeface="Calibri" pitchFamily="34" charset="0"/>
        </a:defRPr>
      </a:lvl2pPr>
      <a:lvl3pPr algn="ctr" rtl="0" fontAlgn="base">
        <a:spcBef>
          <a:spcPct val="0"/>
        </a:spcBef>
        <a:spcAft>
          <a:spcPct val="0"/>
        </a:spcAft>
        <a:defRPr sz="3300">
          <a:solidFill>
            <a:schemeClr val="tx1"/>
          </a:solidFill>
          <a:latin typeface="Calibri" pitchFamily="34" charset="0"/>
        </a:defRPr>
      </a:lvl3pPr>
      <a:lvl4pPr algn="ctr" rtl="0" fontAlgn="base">
        <a:spcBef>
          <a:spcPct val="0"/>
        </a:spcBef>
        <a:spcAft>
          <a:spcPct val="0"/>
        </a:spcAft>
        <a:defRPr sz="3300">
          <a:solidFill>
            <a:schemeClr val="tx1"/>
          </a:solidFill>
          <a:latin typeface="Calibri" pitchFamily="34" charset="0"/>
        </a:defRPr>
      </a:lvl4pPr>
      <a:lvl5pPr algn="ctr" rtl="0" fontAlgn="base">
        <a:spcBef>
          <a:spcPct val="0"/>
        </a:spcBef>
        <a:spcAft>
          <a:spcPct val="0"/>
        </a:spcAft>
        <a:defRPr sz="3300">
          <a:solidFill>
            <a:schemeClr val="tx1"/>
          </a:solidFill>
          <a:latin typeface="Calibri" pitchFamily="34" charset="0"/>
        </a:defRPr>
      </a:lvl5pPr>
      <a:lvl6pPr marL="342900" algn="ctr" rtl="0" eaLnBrk="1" fontAlgn="base" hangingPunct="1">
        <a:spcBef>
          <a:spcPct val="0"/>
        </a:spcBef>
        <a:spcAft>
          <a:spcPct val="0"/>
        </a:spcAft>
        <a:defRPr sz="3300">
          <a:solidFill>
            <a:schemeClr val="tx1"/>
          </a:solidFill>
          <a:latin typeface="Calibri" pitchFamily="34" charset="0"/>
        </a:defRPr>
      </a:lvl6pPr>
      <a:lvl7pPr marL="685800" algn="ctr" rtl="0" eaLnBrk="1" fontAlgn="base" hangingPunct="1">
        <a:spcBef>
          <a:spcPct val="0"/>
        </a:spcBef>
        <a:spcAft>
          <a:spcPct val="0"/>
        </a:spcAft>
        <a:defRPr sz="3300">
          <a:solidFill>
            <a:schemeClr val="tx1"/>
          </a:solidFill>
          <a:latin typeface="Calibri" pitchFamily="34" charset="0"/>
        </a:defRPr>
      </a:lvl7pPr>
      <a:lvl8pPr marL="1028700" algn="ctr" rtl="0" eaLnBrk="1" fontAlgn="base" hangingPunct="1">
        <a:spcBef>
          <a:spcPct val="0"/>
        </a:spcBef>
        <a:spcAft>
          <a:spcPct val="0"/>
        </a:spcAft>
        <a:defRPr sz="3300">
          <a:solidFill>
            <a:schemeClr val="tx1"/>
          </a:solidFill>
          <a:latin typeface="Calibri" pitchFamily="34" charset="0"/>
        </a:defRPr>
      </a:lvl8pPr>
      <a:lvl9pPr marL="1371600" algn="ctr" rtl="0" eaLnBrk="1" fontAlgn="base" hangingPunct="1">
        <a:spcBef>
          <a:spcPct val="0"/>
        </a:spcBef>
        <a:spcAft>
          <a:spcPct val="0"/>
        </a:spcAft>
        <a:defRPr sz="3300">
          <a:solidFill>
            <a:schemeClr val="tx1"/>
          </a:solidFill>
          <a:latin typeface="Calibri" pitchFamily="34"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fontAlgn="base">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fontAlgn="base">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fontAlgn="base">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fontAlgn="base">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14.xml"/><Relationship Id="rId6" Type="http://schemas.openxmlformats.org/officeDocument/2006/relationships/image" Target="../media/image70.png"/><Relationship Id="rId5" Type="http://schemas.openxmlformats.org/officeDocument/2006/relationships/customXml" Target="../ink/ink2.xml"/><Relationship Id="rId4" Type="http://schemas.openxmlformats.org/officeDocument/2006/relationships/image" Target="../media/image6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1.bin"/><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3.png"/><Relationship Id="rId1" Type="http://schemas.openxmlformats.org/officeDocument/2006/relationships/slideLayout" Target="../slideLayouts/slideLayout14.xml"/><Relationship Id="rId4" Type="http://schemas.openxmlformats.org/officeDocument/2006/relationships/image" Target="../media/image130.png"/></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defRPr/>
            </a:pPr>
            <a:r>
              <a:rPr lang="en-IN" sz="2800" b="1" dirty="0"/>
              <a:t>Introduction to Statistical Methods</a:t>
            </a:r>
            <a:endParaRPr lang="en-US" sz="2800" dirty="0"/>
          </a:p>
        </p:txBody>
      </p:sp>
      <p:sp>
        <p:nvSpPr>
          <p:cNvPr id="13315" name="Content Placeholder 5"/>
          <p:cNvSpPr>
            <a:spLocks noGrp="1"/>
          </p:cNvSpPr>
          <p:nvPr>
            <p:ph sz="quarter" idx="13"/>
          </p:nvPr>
        </p:nvSpPr>
        <p:spPr/>
        <p:txBody>
          <a:bodyPr/>
          <a:lstStyle/>
          <a:p>
            <a:pPr eaLnBrk="1" hangingPunct="1">
              <a:spcBef>
                <a:spcPct val="0"/>
              </a:spcBef>
            </a:pPr>
            <a:r>
              <a:rPr lang="en-US" dirty="0"/>
              <a:t>ISM TEAM</a:t>
            </a:r>
          </a:p>
        </p:txBody>
      </p:sp>
    </p:spTree>
    <p:extLst>
      <p:ext uri="{BB962C8B-B14F-4D97-AF65-F5344CB8AC3E}">
        <p14:creationId xmlns:p14="http://schemas.microsoft.com/office/powerpoint/2010/main" val="143464138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lgn="l"/>
            <a:r>
              <a:rPr lang="en-IN" sz="3600" dirty="0"/>
              <a:t>		Course No:  </a:t>
            </a:r>
            <a:r>
              <a:rPr lang="en-IN" sz="3600" kern="50" dirty="0">
                <a:effectLst/>
                <a:latin typeface="Times New Roman" panose="02020603050405020304" pitchFamily="18" charset="0"/>
                <a:ea typeface="WenQuanYi Micro Hei"/>
              </a:rPr>
              <a:t>AIML ZC418/ </a:t>
            </a:r>
            <a:r>
              <a:rPr lang="en-IN" sz="3600" kern="50" dirty="0">
                <a:effectLst/>
                <a:latin typeface="Times New Roman" panose="02020603050405020304" pitchFamily="18" charset="0"/>
                <a:ea typeface="WenQuanYi Micro Hei"/>
                <a:cs typeface="Times New Roman" panose="02020603050405020304" pitchFamily="18" charset="0"/>
              </a:rPr>
              <a:t>DSECT ZC418</a:t>
            </a:r>
            <a:r>
              <a:rPr lang="en-IN" sz="3600" b="1" i="0" u="none" strike="noStrike" baseline="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 </a:t>
            </a:r>
          </a:p>
          <a:p>
            <a:pPr algn="ctr" eaLnBrk="1" hangingPunct="1">
              <a:spcBef>
                <a:spcPct val="0"/>
              </a:spcBef>
              <a:buFont typeface="Arial" charset="0"/>
              <a:buNone/>
              <a:defRPr/>
            </a:pPr>
            <a:r>
              <a:rPr lang="en-US" sz="3200" dirty="0">
                <a:latin typeface="Arial" charset="0"/>
                <a:ea typeface="+mn-ea"/>
                <a:cs typeface="Arial" charset="0"/>
              </a:rPr>
              <a:t>Webinar 1 </a:t>
            </a:r>
            <a:r>
              <a:rPr lang="en-US" sz="3200">
                <a:latin typeface="Arial" charset="0"/>
                <a:ea typeface="+mn-ea"/>
                <a:cs typeface="Arial" charset="0"/>
              </a:rPr>
              <a:t>: </a:t>
            </a:r>
            <a:r>
              <a:rPr lang="en-US" sz="3200">
                <a:latin typeface="Arial" charset="0"/>
                <a:cs typeface="Arial" charset="0"/>
              </a:rPr>
              <a:t>26</a:t>
            </a:r>
            <a:r>
              <a:rPr lang="en-US" sz="3200">
                <a:latin typeface="Arial" charset="0"/>
                <a:ea typeface="+mn-ea"/>
                <a:cs typeface="Arial" charset="0"/>
              </a:rPr>
              <a:t>-08-2026</a:t>
            </a:r>
            <a:endParaRPr lang="en-US" sz="3200" dirty="0">
              <a:latin typeface="Arial" charset="0"/>
              <a:ea typeface="+mn-ea"/>
              <a:cs typeface="Arial" charset="0"/>
            </a:endParaRPr>
          </a:p>
          <a:p>
            <a:pPr algn="ctr" eaLnBrk="1" hangingPunct="1">
              <a:spcBef>
                <a:spcPct val="0"/>
              </a:spcBef>
              <a:buFont typeface="Arial" charset="0"/>
              <a:buNone/>
              <a:defRPr/>
            </a:pPr>
            <a:r>
              <a:rPr lang="en-US" sz="2400" b="0" dirty="0">
                <a:solidFill>
                  <a:srgbClr val="FF0000"/>
                </a:solidFill>
                <a:latin typeface="Arial" charset="0"/>
                <a:cs typeface="Arial" charset="0"/>
              </a:rPr>
              <a:t>								</a:t>
            </a:r>
            <a:endParaRPr lang="en-US" sz="2400" b="0" dirty="0">
              <a:solidFill>
                <a:srgbClr val="FF0000"/>
              </a:solidFill>
              <a:latin typeface="Arial" charset="0"/>
              <a:ea typeface="+mn-ea"/>
              <a:cs typeface="Arial" charset="0"/>
            </a:endParaRPr>
          </a:p>
          <a:p>
            <a:pPr eaLnBrk="1" hangingPunct="1">
              <a:spcBef>
                <a:spcPct val="0"/>
              </a:spcBef>
              <a:buFont typeface="Arial" charset="0"/>
              <a:buNone/>
              <a:defRPr/>
            </a:pPr>
            <a:endParaRPr lang="en-US" dirty="0">
              <a:latin typeface="Arial" charset="0"/>
              <a:cs typeface="Arial" charset="0"/>
            </a:endParaRPr>
          </a:p>
          <a:p>
            <a:pPr eaLnBrk="1" hangingPunct="1">
              <a:spcBef>
                <a:spcPct val="0"/>
              </a:spcBef>
              <a:buFont typeface="Arial" charset="0"/>
              <a:buNone/>
              <a:defRPr/>
            </a:pPr>
            <a:endParaRPr lang="en-US" dirty="0">
              <a:latin typeface="Arial" charset="0"/>
              <a:ea typeface="+mn-ea"/>
              <a:cs typeface="Arial" charset="0"/>
            </a:endParaRPr>
          </a:p>
        </p:txBody>
      </p:sp>
    </p:spTree>
    <p:extLst>
      <p:ext uri="{BB962C8B-B14F-4D97-AF65-F5344CB8AC3E}">
        <p14:creationId xmlns:p14="http://schemas.microsoft.com/office/powerpoint/2010/main" val="3896728606"/>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lvl="0">
              <a:lnSpc>
                <a:spcPct val="150000"/>
              </a:lnSpc>
              <a:buFont typeface="Arial" panose="020B0604020202020204" pitchFamily="34" charset="0"/>
              <a:buChar char="•"/>
            </a:pPr>
            <a:r>
              <a:rPr lang="en-IN" sz="2300" dirty="0"/>
              <a:t>Descriptive Statistics </a:t>
            </a:r>
          </a:p>
          <a:p>
            <a:pPr lvl="1">
              <a:lnSpc>
                <a:spcPct val="150000"/>
              </a:lnSpc>
              <a:buFont typeface="Wingdings" panose="05000000000000000000" pitchFamily="2" charset="2"/>
              <a:buChar char="v"/>
            </a:pPr>
            <a:r>
              <a:rPr lang="en-IN" sz="2300" dirty="0"/>
              <a:t>Measures of Central Tendency</a:t>
            </a:r>
          </a:p>
          <a:p>
            <a:pPr lvl="1">
              <a:lnSpc>
                <a:spcPct val="150000"/>
              </a:lnSpc>
              <a:buFont typeface="Wingdings" panose="05000000000000000000" pitchFamily="2" charset="2"/>
              <a:buChar char="v"/>
            </a:pPr>
            <a:r>
              <a:rPr lang="en-IN" sz="2300" dirty="0"/>
              <a:t>Measures of Variability</a:t>
            </a:r>
          </a:p>
          <a:p>
            <a:pPr lvl="0">
              <a:lnSpc>
                <a:spcPct val="150000"/>
              </a:lnSpc>
              <a:buFont typeface="Arial" panose="020B0604020202020204" pitchFamily="34" charset="0"/>
              <a:buChar char="•"/>
            </a:pPr>
            <a:r>
              <a:rPr lang="en-IN" sz="2300" dirty="0"/>
              <a:t>Probability</a:t>
            </a:r>
          </a:p>
          <a:p>
            <a:pPr lvl="1">
              <a:lnSpc>
                <a:spcPct val="150000"/>
              </a:lnSpc>
              <a:buFont typeface="Wingdings" panose="05000000000000000000" pitchFamily="2" charset="2"/>
              <a:buChar char="v"/>
            </a:pPr>
            <a:r>
              <a:rPr lang="en-IN" sz="2300" dirty="0"/>
              <a:t> Introduction and Basics</a:t>
            </a:r>
          </a:p>
          <a:p>
            <a:pPr lvl="1">
              <a:lnSpc>
                <a:spcPct val="150000"/>
              </a:lnSpc>
              <a:buFont typeface="Wingdings" panose="05000000000000000000" pitchFamily="2" charset="2"/>
              <a:buChar char="v"/>
            </a:pPr>
            <a:r>
              <a:rPr lang="en-IN" sz="2300" dirty="0"/>
              <a:t>Conditional probability </a:t>
            </a:r>
          </a:p>
          <a:p>
            <a:pPr lvl="1">
              <a:lnSpc>
                <a:spcPct val="150000"/>
              </a:lnSpc>
              <a:buFont typeface="Wingdings" panose="05000000000000000000" pitchFamily="2" charset="2"/>
              <a:buChar char="v"/>
            </a:pPr>
            <a:r>
              <a:rPr lang="en-IN" sz="2300"/>
              <a:t>Total Probability</a:t>
            </a:r>
            <a:endParaRPr lang="en-IN" sz="2300" dirty="0"/>
          </a:p>
        </p:txBody>
      </p:sp>
      <p:sp>
        <p:nvSpPr>
          <p:cNvPr id="3" name="Content Placeholder 2"/>
          <p:cNvSpPr>
            <a:spLocks noGrp="1"/>
          </p:cNvSpPr>
          <p:nvPr>
            <p:ph sz="quarter" idx="10"/>
          </p:nvPr>
        </p:nvSpPr>
        <p:spPr/>
        <p:txBody>
          <a:bodyPr/>
          <a:lstStyle/>
          <a:p>
            <a:r>
              <a:rPr lang="en-IN" dirty="0"/>
              <a:t>Topics - Webinar</a:t>
            </a:r>
          </a:p>
        </p:txBody>
      </p:sp>
    </p:spTree>
    <p:extLst>
      <p:ext uri="{BB962C8B-B14F-4D97-AF65-F5344CB8AC3E}">
        <p14:creationId xmlns:p14="http://schemas.microsoft.com/office/powerpoint/2010/main" val="3642942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C7924-41F1-34AE-93E5-6F6D2671BDBF}"/>
              </a:ext>
            </a:extLst>
          </p:cNvPr>
          <p:cNvSpPr txBox="1"/>
          <p:nvPr/>
        </p:nvSpPr>
        <p:spPr>
          <a:xfrm>
            <a:off x="119271" y="681965"/>
            <a:ext cx="4790660" cy="609782"/>
          </a:xfrm>
          <a:prstGeom prst="rect">
            <a:avLst/>
          </a:prstGeom>
          <a:noFill/>
        </p:spPr>
        <p:txBody>
          <a:bodyPr wrap="square">
            <a:spAutoFit/>
          </a:bodyPr>
          <a:lstStyle/>
          <a:p>
            <a:pPr lvl="1">
              <a:lnSpc>
                <a:spcPct val="150000"/>
              </a:lnSpc>
            </a:pPr>
            <a:r>
              <a:rPr lang="en-IN" sz="2500" b="1" dirty="0"/>
              <a:t>Measures of Central Tendency</a:t>
            </a:r>
          </a:p>
        </p:txBody>
      </p:sp>
      <p:sp>
        <p:nvSpPr>
          <p:cNvPr id="7" name="TextBox 6">
            <a:extLst>
              <a:ext uri="{FF2B5EF4-FFF2-40B4-BE49-F238E27FC236}">
                <a16:creationId xmlns:a16="http://schemas.microsoft.com/office/drawing/2014/main" id="{9CD5FCEE-E891-1E71-6F96-36321BCCF841}"/>
              </a:ext>
            </a:extLst>
          </p:cNvPr>
          <p:cNvSpPr txBox="1"/>
          <p:nvPr/>
        </p:nvSpPr>
        <p:spPr>
          <a:xfrm>
            <a:off x="351183" y="1547115"/>
            <a:ext cx="11489633" cy="4500976"/>
          </a:xfrm>
          <a:prstGeom prst="rect">
            <a:avLst/>
          </a:prstGeom>
          <a:noFill/>
        </p:spPr>
        <p:txBody>
          <a:bodyPr wrap="square">
            <a:spAutoFit/>
          </a:bodyPr>
          <a:lstStyle/>
          <a:p>
            <a:pPr marL="0" marR="0" algn="just">
              <a:lnSpc>
                <a:spcPct val="115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1) A psychologist wrote a computer program to simulate the way a person responds to a standard IQ test. To test the program, he gave the computer 15 different forms of a popular IQ test and computed its IQ from each form.</a:t>
            </a:r>
          </a:p>
          <a:p>
            <a:pPr marL="0" marR="0" algn="just">
              <a:lnSpc>
                <a:spcPct val="115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IQ Values: 	</a:t>
            </a:r>
          </a:p>
          <a:p>
            <a:pPr marL="0" marR="0" algn="just">
              <a:lnSpc>
                <a:spcPct val="115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134 	136	 137	 138	 138	 143 	144	 144	 145	 146     	146	 146 </a:t>
            </a:r>
          </a:p>
          <a:p>
            <a:pPr marL="0" marR="0" algn="just">
              <a:lnSpc>
                <a:spcPct val="115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147            148 	 153</a:t>
            </a:r>
          </a:p>
          <a:p>
            <a:pPr marL="0" marR="0" algn="just">
              <a:lnSpc>
                <a:spcPct val="115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Find the following Statistical measures:</a:t>
            </a:r>
          </a:p>
          <a:p>
            <a:pPr marL="0" marR="0" algn="just">
              <a:lnSpc>
                <a:spcPct val="115000"/>
              </a:lnSpc>
              <a:spcBef>
                <a:spcPts val="0"/>
              </a:spcBef>
              <a:spcAft>
                <a:spcPts val="800"/>
              </a:spcAft>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Mean, median, and mode</a:t>
            </a:r>
          </a:p>
          <a:p>
            <a:pPr marL="0" marR="0" algn="just">
              <a:lnSpc>
                <a:spcPct val="115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ii.	Range, Variance and standard deviation</a:t>
            </a:r>
          </a:p>
          <a:p>
            <a:pPr marL="0" marR="0" algn="just">
              <a:lnSpc>
                <a:spcPct val="115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iii.	The interquartile range. </a:t>
            </a:r>
          </a:p>
          <a:p>
            <a:pPr marL="0" marR="0" algn="just">
              <a:lnSpc>
                <a:spcPct val="115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iv.	Identify potential outliers, if any. </a:t>
            </a:r>
          </a:p>
          <a:p>
            <a:pPr marL="0" marR="0" algn="just">
              <a:lnSpc>
                <a:spcPct val="115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v.	Construct and interpret a boxplot</a:t>
            </a:r>
          </a:p>
        </p:txBody>
      </p:sp>
    </p:spTree>
    <p:extLst>
      <p:ext uri="{BB962C8B-B14F-4D97-AF65-F5344CB8AC3E}">
        <p14:creationId xmlns:p14="http://schemas.microsoft.com/office/powerpoint/2010/main" val="3052319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C7924-41F1-34AE-93E5-6F6D2671BDBF}"/>
              </a:ext>
            </a:extLst>
          </p:cNvPr>
          <p:cNvSpPr txBox="1"/>
          <p:nvPr/>
        </p:nvSpPr>
        <p:spPr>
          <a:xfrm>
            <a:off x="119271" y="681965"/>
            <a:ext cx="4790660" cy="609782"/>
          </a:xfrm>
          <a:prstGeom prst="rect">
            <a:avLst/>
          </a:prstGeom>
          <a:noFill/>
        </p:spPr>
        <p:txBody>
          <a:bodyPr wrap="square">
            <a:spAutoFit/>
          </a:bodyPr>
          <a:lstStyle/>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IN" sz="2500" b="1" i="0" u="none" strike="noStrike" kern="1200" cap="none" spc="0" normalizeH="0" baseline="0" noProof="0" dirty="0">
                <a:ln>
                  <a:noFill/>
                </a:ln>
                <a:solidFill>
                  <a:prstClr val="black"/>
                </a:solidFill>
                <a:effectLst/>
                <a:uLnTx/>
                <a:uFillTx/>
                <a:latin typeface="Calibri"/>
                <a:ea typeface="+mn-ea"/>
                <a:cs typeface="+mn-cs"/>
              </a:rPr>
              <a:t>Measures of Central Tendency</a:t>
            </a:r>
          </a:p>
        </p:txBody>
      </p:sp>
      <p:pic>
        <p:nvPicPr>
          <p:cNvPr id="4" name="Picture 3"/>
          <p:cNvPicPr>
            <a:picLocks noChangeAspect="1"/>
          </p:cNvPicPr>
          <p:nvPr/>
        </p:nvPicPr>
        <p:blipFill>
          <a:blip r:embed="rId2"/>
          <a:stretch>
            <a:fillRect/>
          </a:stretch>
        </p:blipFill>
        <p:spPr>
          <a:xfrm>
            <a:off x="1012365" y="1524221"/>
            <a:ext cx="9105060" cy="4979535"/>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C5003BC7-82A9-5249-6968-DD3977724B32}"/>
                  </a:ext>
                </a:extLst>
              </p14:cNvPr>
              <p14:cNvContentPartPr/>
              <p14:nvPr/>
            </p14:nvContentPartPr>
            <p14:xfrm>
              <a:off x="1455385" y="3224122"/>
              <a:ext cx="470520" cy="52920"/>
            </p14:xfrm>
          </p:contentPart>
        </mc:Choice>
        <mc:Fallback xmlns="">
          <p:pic>
            <p:nvPicPr>
              <p:cNvPr id="6" name="Ink 5">
                <a:extLst>
                  <a:ext uri="{FF2B5EF4-FFF2-40B4-BE49-F238E27FC236}">
                    <a16:creationId xmlns:a16="http://schemas.microsoft.com/office/drawing/2014/main" id="{C5003BC7-82A9-5249-6968-DD3977724B32}"/>
                  </a:ext>
                </a:extLst>
              </p:cNvPr>
              <p:cNvPicPr/>
              <p:nvPr/>
            </p:nvPicPr>
            <p:blipFill>
              <a:blip r:embed="rId4"/>
              <a:stretch>
                <a:fillRect/>
              </a:stretch>
            </p:blipFill>
            <p:spPr>
              <a:xfrm>
                <a:off x="1392385" y="3161122"/>
                <a:ext cx="59616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7032FE06-1CFB-74A2-D245-C5ABF97AAB71}"/>
                  </a:ext>
                </a:extLst>
              </p14:cNvPr>
              <p14:cNvContentPartPr/>
              <p14:nvPr/>
            </p14:nvContentPartPr>
            <p14:xfrm>
              <a:off x="1511185" y="3349402"/>
              <a:ext cx="347040" cy="360"/>
            </p14:xfrm>
          </p:contentPart>
        </mc:Choice>
        <mc:Fallback xmlns="">
          <p:pic>
            <p:nvPicPr>
              <p:cNvPr id="7" name="Ink 6">
                <a:extLst>
                  <a:ext uri="{FF2B5EF4-FFF2-40B4-BE49-F238E27FC236}">
                    <a16:creationId xmlns:a16="http://schemas.microsoft.com/office/drawing/2014/main" id="{7032FE06-1CFB-74A2-D245-C5ABF97AAB71}"/>
                  </a:ext>
                </a:extLst>
              </p:cNvPr>
              <p:cNvPicPr/>
              <p:nvPr/>
            </p:nvPicPr>
            <p:blipFill>
              <a:blip r:embed="rId6"/>
              <a:stretch>
                <a:fillRect/>
              </a:stretch>
            </p:blipFill>
            <p:spPr>
              <a:xfrm>
                <a:off x="1448185" y="3286762"/>
                <a:ext cx="472680" cy="126000"/>
              </a:xfrm>
              <a:prstGeom prst="rect">
                <a:avLst/>
              </a:prstGeom>
            </p:spPr>
          </p:pic>
        </mc:Fallback>
      </mc:AlternateContent>
      <p:sp>
        <p:nvSpPr>
          <p:cNvPr id="8" name="TextBox 7">
            <a:extLst>
              <a:ext uri="{FF2B5EF4-FFF2-40B4-BE49-F238E27FC236}">
                <a16:creationId xmlns:a16="http://schemas.microsoft.com/office/drawing/2014/main" id="{FE212C10-CA77-2DEC-39A1-FA4F69EC3ECA}"/>
              </a:ext>
            </a:extLst>
          </p:cNvPr>
          <p:cNvSpPr txBox="1"/>
          <p:nvPr/>
        </p:nvSpPr>
        <p:spPr>
          <a:xfrm>
            <a:off x="1455385" y="3092376"/>
            <a:ext cx="1049135" cy="369332"/>
          </a:xfrm>
          <a:prstGeom prst="rect">
            <a:avLst/>
          </a:prstGeom>
          <a:noFill/>
        </p:spPr>
        <p:txBody>
          <a:bodyPr wrap="square" rtlCol="0">
            <a:spAutoFit/>
          </a:bodyPr>
          <a:lstStyle/>
          <a:p>
            <a:r>
              <a:rPr lang="en-IN" dirty="0"/>
              <a:t>Measure</a:t>
            </a:r>
          </a:p>
        </p:txBody>
      </p:sp>
    </p:spTree>
    <p:extLst>
      <p:ext uri="{BB962C8B-B14F-4D97-AF65-F5344CB8AC3E}">
        <p14:creationId xmlns:p14="http://schemas.microsoft.com/office/powerpoint/2010/main" val="3597514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42B39E-C6EA-E765-9812-52FE1AE4F79A}"/>
              </a:ext>
            </a:extLst>
          </p:cNvPr>
          <p:cNvSpPr>
            <a:spLocks noGrp="1"/>
          </p:cNvSpPr>
          <p:nvPr>
            <p:ph sz="quarter" idx="10"/>
          </p:nvPr>
        </p:nvSpPr>
        <p:spPr/>
        <p:txBody>
          <a:bodyPr/>
          <a:lstStyle/>
          <a:p>
            <a:r>
              <a:rPr lang="en-US" dirty="0"/>
              <a:t>Mode, Bimodal, and Multimodal</a:t>
            </a:r>
          </a:p>
        </p:txBody>
      </p:sp>
      <p:sp>
        <p:nvSpPr>
          <p:cNvPr id="5" name="TextBox 4">
            <a:extLst>
              <a:ext uri="{FF2B5EF4-FFF2-40B4-BE49-F238E27FC236}">
                <a16:creationId xmlns:a16="http://schemas.microsoft.com/office/drawing/2014/main" id="{1FE982BB-73FE-8E63-2597-D71FF5EEF465}"/>
              </a:ext>
            </a:extLst>
          </p:cNvPr>
          <p:cNvSpPr txBox="1"/>
          <p:nvPr/>
        </p:nvSpPr>
        <p:spPr>
          <a:xfrm>
            <a:off x="285750" y="1461611"/>
            <a:ext cx="8867215" cy="4524315"/>
          </a:xfrm>
          <a:prstGeom prst="rect">
            <a:avLst/>
          </a:prstGeom>
          <a:noFill/>
        </p:spPr>
        <p:txBody>
          <a:bodyPr wrap="square">
            <a:spAutoFit/>
          </a:bodyPr>
          <a:lstStyle/>
          <a:p>
            <a:r>
              <a:rPr lang="en-US" b="0" i="0" dirty="0">
                <a:solidFill>
                  <a:srgbClr val="202124"/>
                </a:solidFill>
                <a:effectLst/>
                <a:latin typeface="Google Sans"/>
              </a:rPr>
              <a:t>A given set of data may have one or more than one Mode. A set of numbers with one Mode is unimodal, </a:t>
            </a:r>
            <a:r>
              <a:rPr lang="en-US" b="0" i="0" dirty="0">
                <a:solidFill>
                  <a:srgbClr val="040C28"/>
                </a:solidFill>
                <a:effectLst/>
                <a:latin typeface="Google Sans"/>
              </a:rPr>
              <a:t>a set of numbers having two Modes is bimodal</a:t>
            </a:r>
            <a:r>
              <a:rPr lang="en-US" b="0" i="0" dirty="0">
                <a:solidFill>
                  <a:srgbClr val="202124"/>
                </a:solidFill>
                <a:effectLst/>
                <a:latin typeface="Google Sans"/>
              </a:rPr>
              <a:t>, a set of numbers having three Modes is trimodal, and any set of numbers having four or more than four Modes is known as multimodal.</a:t>
            </a:r>
          </a:p>
          <a:p>
            <a:endParaRPr lang="en-US" dirty="0">
              <a:solidFill>
                <a:srgbClr val="202124"/>
              </a:solidFill>
              <a:latin typeface="Google Sans"/>
            </a:endParaRPr>
          </a:p>
          <a:p>
            <a:endParaRPr lang="en-US" dirty="0">
              <a:solidFill>
                <a:srgbClr val="202124"/>
              </a:solidFill>
              <a:latin typeface="Google Sans"/>
            </a:endParaRPr>
          </a:p>
          <a:p>
            <a:r>
              <a:rPr lang="en-US" b="0" i="0" dirty="0">
                <a:solidFill>
                  <a:srgbClr val="4D5156"/>
                </a:solidFill>
                <a:effectLst/>
                <a:latin typeface="Google Sans"/>
              </a:rPr>
              <a:t>Bimodal Mode – A set of data including two modes is identified as a bimodal model. This indicates that there are two data values that possess the highest frequencies. For example, the mode of data set B = { 8, 12, 12, 14, 15, 19, 17, 19} is 12 and 19 as both 12 and 19 are repeated twice in the given set</a:t>
            </a:r>
            <a:r>
              <a:rPr lang="en-US" b="0" i="0" dirty="0">
                <a:solidFill>
                  <a:srgbClr val="202124"/>
                </a:solidFill>
                <a:effectLst/>
                <a:latin typeface="Google Sans"/>
              </a:rPr>
              <a:t>.</a:t>
            </a:r>
          </a:p>
          <a:p>
            <a:endParaRPr lang="en-US" dirty="0">
              <a:solidFill>
                <a:srgbClr val="202124"/>
              </a:solidFill>
              <a:latin typeface="Google Sans"/>
            </a:endParaRPr>
          </a:p>
          <a:p>
            <a:pPr algn="l"/>
            <a:r>
              <a:rPr lang="en-US" b="0" i="0" dirty="0">
                <a:solidFill>
                  <a:srgbClr val="FF0000"/>
                </a:solidFill>
                <a:effectLst/>
                <a:latin typeface="Google Sans"/>
              </a:rPr>
              <a:t>No mode:</a:t>
            </a:r>
            <a:endParaRPr lang="en-US" b="0" i="0" dirty="0">
              <a:solidFill>
                <a:srgbClr val="FF0000"/>
              </a:solidFill>
              <a:effectLst/>
              <a:latin typeface="arial" panose="020B0604020202020204" pitchFamily="34" charset="0"/>
            </a:endParaRPr>
          </a:p>
          <a:p>
            <a:pPr algn="l"/>
            <a:r>
              <a:rPr lang="en-US" b="0" i="0" dirty="0">
                <a:solidFill>
                  <a:srgbClr val="4D5156"/>
                </a:solidFill>
                <a:effectLst/>
                <a:latin typeface="Google Sans"/>
              </a:rPr>
              <a:t>If no number in a set of numbers occurs more than once, that set has no mode: </a:t>
            </a:r>
            <a:r>
              <a:rPr lang="en-US" b="0" i="0" dirty="0">
                <a:solidFill>
                  <a:srgbClr val="040C28"/>
                </a:solidFill>
                <a:effectLst/>
                <a:latin typeface="Google Sans"/>
              </a:rPr>
              <a:t>3, 6, 9, 16, 27, 37, 48</a:t>
            </a:r>
            <a:r>
              <a:rPr lang="en-US" b="0" i="0" dirty="0">
                <a:solidFill>
                  <a:srgbClr val="4D5156"/>
                </a:solidFill>
                <a:effectLst/>
                <a:latin typeface="Google Sans"/>
              </a:rPr>
              <a:t>.</a:t>
            </a:r>
            <a:endParaRPr lang="en-US" b="0" i="0" dirty="0">
              <a:solidFill>
                <a:srgbClr val="202124"/>
              </a:solidFill>
              <a:effectLst/>
              <a:latin typeface="arial" panose="020B0604020202020204" pitchFamily="34" charset="0"/>
            </a:endParaRPr>
          </a:p>
          <a:p>
            <a:endParaRPr lang="en-US" b="0" i="0" dirty="0">
              <a:solidFill>
                <a:srgbClr val="202124"/>
              </a:solidFill>
              <a:effectLst/>
              <a:latin typeface="Google Sans"/>
            </a:endParaRPr>
          </a:p>
          <a:p>
            <a:endParaRPr lang="en-US" dirty="0"/>
          </a:p>
        </p:txBody>
      </p:sp>
      <p:sp>
        <p:nvSpPr>
          <p:cNvPr id="9" name="Rectangle: Rounded Corners 8">
            <a:extLst>
              <a:ext uri="{FF2B5EF4-FFF2-40B4-BE49-F238E27FC236}">
                <a16:creationId xmlns:a16="http://schemas.microsoft.com/office/drawing/2014/main" id="{F45A8E72-138B-B8A7-DB69-C1A924F6F28D}"/>
              </a:ext>
            </a:extLst>
          </p:cNvPr>
          <p:cNvSpPr/>
          <p:nvPr/>
        </p:nvSpPr>
        <p:spPr>
          <a:xfrm>
            <a:off x="9584391" y="1622410"/>
            <a:ext cx="2321859" cy="389014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AB6E77CE-6722-4545-5AE5-8259D136D6A4}"/>
              </a:ext>
            </a:extLst>
          </p:cNvPr>
          <p:cNvSpPr txBox="1"/>
          <p:nvPr/>
        </p:nvSpPr>
        <p:spPr>
          <a:xfrm>
            <a:off x="9673337" y="1934497"/>
            <a:ext cx="2259106" cy="923330"/>
          </a:xfrm>
          <a:prstGeom prst="rect">
            <a:avLst/>
          </a:prstGeom>
          <a:noFill/>
        </p:spPr>
        <p:txBody>
          <a:bodyPr wrap="square">
            <a:spAutoFit/>
          </a:bodyPr>
          <a:lstStyle/>
          <a:p>
            <a:r>
              <a:rPr lang="en-US" b="0" i="0" dirty="0">
                <a:solidFill>
                  <a:srgbClr val="333333"/>
                </a:solidFill>
                <a:effectLst/>
                <a:latin typeface="din"/>
              </a:rPr>
              <a:t>A unimodal mode is a set of data with only one mode.</a:t>
            </a:r>
            <a:endParaRPr lang="en-US" dirty="0"/>
          </a:p>
        </p:txBody>
      </p:sp>
      <p:sp>
        <p:nvSpPr>
          <p:cNvPr id="11" name="TextBox 10">
            <a:extLst>
              <a:ext uri="{FF2B5EF4-FFF2-40B4-BE49-F238E27FC236}">
                <a16:creationId xmlns:a16="http://schemas.microsoft.com/office/drawing/2014/main" id="{9405AA3C-ADF5-17CC-C4EA-BAC7D716B8BD}"/>
              </a:ext>
            </a:extLst>
          </p:cNvPr>
          <p:cNvSpPr txBox="1"/>
          <p:nvPr/>
        </p:nvSpPr>
        <p:spPr>
          <a:xfrm>
            <a:off x="9673337" y="4324157"/>
            <a:ext cx="2143966" cy="923330"/>
          </a:xfrm>
          <a:prstGeom prst="rect">
            <a:avLst/>
          </a:prstGeom>
          <a:noFill/>
        </p:spPr>
        <p:txBody>
          <a:bodyPr wrap="square">
            <a:spAutoFit/>
          </a:bodyPr>
          <a:lstStyle/>
          <a:p>
            <a:r>
              <a:rPr lang="en-US" b="0" i="0" dirty="0">
                <a:solidFill>
                  <a:srgbClr val="333333"/>
                </a:solidFill>
                <a:effectLst/>
                <a:latin typeface="din"/>
              </a:rPr>
              <a:t>A trimodal mode is a set of data that has three modes.</a:t>
            </a:r>
            <a:endParaRPr lang="en-US" dirty="0"/>
          </a:p>
        </p:txBody>
      </p:sp>
      <p:sp>
        <p:nvSpPr>
          <p:cNvPr id="13" name="TextBox 12">
            <a:extLst>
              <a:ext uri="{FF2B5EF4-FFF2-40B4-BE49-F238E27FC236}">
                <a16:creationId xmlns:a16="http://schemas.microsoft.com/office/drawing/2014/main" id="{B143DF68-C01C-F04B-2EE9-6603F0A45F68}"/>
              </a:ext>
            </a:extLst>
          </p:cNvPr>
          <p:cNvSpPr txBox="1"/>
          <p:nvPr/>
        </p:nvSpPr>
        <p:spPr>
          <a:xfrm>
            <a:off x="9647144" y="3105738"/>
            <a:ext cx="2259106" cy="923330"/>
          </a:xfrm>
          <a:prstGeom prst="rect">
            <a:avLst/>
          </a:prstGeom>
          <a:noFill/>
        </p:spPr>
        <p:txBody>
          <a:bodyPr wrap="square">
            <a:spAutoFit/>
          </a:bodyPr>
          <a:lstStyle/>
          <a:p>
            <a:r>
              <a:rPr lang="en-US" b="0" i="0" dirty="0">
                <a:solidFill>
                  <a:srgbClr val="333333"/>
                </a:solidFill>
                <a:effectLst/>
                <a:latin typeface="din"/>
              </a:rPr>
              <a:t>A bimodal mode is a set of data that has two modes. </a:t>
            </a:r>
            <a:endParaRPr lang="en-US" dirty="0"/>
          </a:p>
        </p:txBody>
      </p:sp>
    </p:spTree>
    <p:extLst>
      <p:ext uri="{BB962C8B-B14F-4D97-AF65-F5344CB8AC3E}">
        <p14:creationId xmlns:p14="http://schemas.microsoft.com/office/powerpoint/2010/main" val="4101919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C7924-41F1-34AE-93E5-6F6D2671BDBF}"/>
              </a:ext>
            </a:extLst>
          </p:cNvPr>
          <p:cNvSpPr txBox="1"/>
          <p:nvPr/>
        </p:nvSpPr>
        <p:spPr>
          <a:xfrm>
            <a:off x="119271" y="681965"/>
            <a:ext cx="4790660" cy="609782"/>
          </a:xfrm>
          <a:prstGeom prst="rect">
            <a:avLst/>
          </a:prstGeom>
          <a:noFill/>
        </p:spPr>
        <p:txBody>
          <a:bodyPr wrap="square">
            <a:spAutoFit/>
          </a:bodyPr>
          <a:lstStyle/>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IN" sz="2500" b="1" i="0" u="none" strike="noStrike" kern="1200" cap="none" spc="0" normalizeH="0" baseline="0" noProof="0" dirty="0">
                <a:ln>
                  <a:noFill/>
                </a:ln>
                <a:solidFill>
                  <a:prstClr val="black"/>
                </a:solidFill>
                <a:effectLst/>
                <a:uLnTx/>
                <a:uFillTx/>
                <a:latin typeface="Calibri"/>
                <a:ea typeface="+mn-ea"/>
                <a:cs typeface="+mn-cs"/>
              </a:rPr>
              <a:t>Measures of Variability</a:t>
            </a:r>
          </a:p>
        </p:txBody>
      </p:sp>
      <p:pic>
        <p:nvPicPr>
          <p:cNvPr id="2" name="Picture 1"/>
          <p:cNvPicPr>
            <a:picLocks noChangeAspect="1"/>
          </p:cNvPicPr>
          <p:nvPr/>
        </p:nvPicPr>
        <p:blipFill>
          <a:blip r:embed="rId2"/>
          <a:stretch>
            <a:fillRect/>
          </a:stretch>
        </p:blipFill>
        <p:spPr>
          <a:xfrm>
            <a:off x="651624" y="1399334"/>
            <a:ext cx="6340847" cy="4998415"/>
          </a:xfrm>
          <a:prstGeom prst="rect">
            <a:avLst/>
          </a:prstGeom>
        </p:spPr>
      </p:pic>
      <p:pic>
        <p:nvPicPr>
          <p:cNvPr id="3" name="Picture 2"/>
          <p:cNvPicPr>
            <a:picLocks noChangeAspect="1"/>
          </p:cNvPicPr>
          <p:nvPr/>
        </p:nvPicPr>
        <p:blipFill>
          <a:blip r:embed="rId3"/>
          <a:stretch>
            <a:fillRect/>
          </a:stretch>
        </p:blipFill>
        <p:spPr>
          <a:xfrm>
            <a:off x="7617197" y="1399334"/>
            <a:ext cx="4061993" cy="3629866"/>
          </a:xfrm>
          <a:prstGeom prst="rect">
            <a:avLst/>
          </a:prstGeom>
        </p:spPr>
      </p:pic>
    </p:spTree>
    <p:extLst>
      <p:ext uri="{BB962C8B-B14F-4D97-AF65-F5344CB8AC3E}">
        <p14:creationId xmlns:p14="http://schemas.microsoft.com/office/powerpoint/2010/main" val="1645273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C7924-41F1-34AE-93E5-6F6D2671BDBF}"/>
              </a:ext>
            </a:extLst>
          </p:cNvPr>
          <p:cNvSpPr txBox="1"/>
          <p:nvPr/>
        </p:nvSpPr>
        <p:spPr>
          <a:xfrm>
            <a:off x="119271" y="681965"/>
            <a:ext cx="4790660" cy="609782"/>
          </a:xfrm>
          <a:prstGeom prst="rect">
            <a:avLst/>
          </a:prstGeom>
          <a:noFill/>
        </p:spPr>
        <p:txBody>
          <a:bodyPr wrap="square">
            <a:spAutoFit/>
          </a:bodyPr>
          <a:lstStyle/>
          <a:p>
            <a:pPr lvl="1">
              <a:lnSpc>
                <a:spcPct val="150000"/>
              </a:lnSpc>
            </a:pPr>
            <a:r>
              <a:rPr lang="en-IN" sz="2500" b="1" dirty="0"/>
              <a:t>Measures of Central Tendency</a:t>
            </a:r>
          </a:p>
        </p:txBody>
      </p:sp>
      <p:sp>
        <p:nvSpPr>
          <p:cNvPr id="3" name="TextBox 2">
            <a:extLst>
              <a:ext uri="{FF2B5EF4-FFF2-40B4-BE49-F238E27FC236}">
                <a16:creationId xmlns:a16="http://schemas.microsoft.com/office/drawing/2014/main" id="{8FFE5802-0BDA-09EA-F718-E73B8A020BD5}"/>
              </a:ext>
            </a:extLst>
          </p:cNvPr>
          <p:cNvSpPr txBox="1"/>
          <p:nvPr/>
        </p:nvSpPr>
        <p:spPr>
          <a:xfrm>
            <a:off x="119271" y="1291747"/>
            <a:ext cx="11849100" cy="967957"/>
          </a:xfrm>
          <a:prstGeom prst="rect">
            <a:avLst/>
          </a:prstGeom>
          <a:noFill/>
        </p:spPr>
        <p:txBody>
          <a:bodyPr wrap="square">
            <a:spAutoFit/>
          </a:bodyPr>
          <a:lstStyle/>
          <a:p>
            <a:pPr marL="0" marR="0" algn="just">
              <a:lnSpc>
                <a:spcPct val="150000"/>
              </a:lnSpc>
              <a:spcBef>
                <a:spcPts val="0"/>
              </a:spcBef>
              <a:spcAft>
                <a:spcPts val="800"/>
              </a:spcAft>
            </a:pP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134</a:t>
            </a:r>
            <a:r>
              <a:rPr lang="en-US" sz="2000" dirty="0">
                <a:effectLst/>
                <a:latin typeface="Calibri" panose="020F0502020204030204" pitchFamily="34" charset="0"/>
                <a:ea typeface="Calibri" panose="020F0502020204030204" pitchFamily="34" charset="0"/>
                <a:cs typeface="Times New Roman" panose="02020603050405020304" pitchFamily="18" charset="0"/>
              </a:rPr>
              <a:t> 	136	 137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138	</a:t>
            </a:r>
            <a:r>
              <a:rPr lang="en-US" sz="2000" dirty="0">
                <a:effectLst/>
                <a:latin typeface="Calibri" panose="020F0502020204030204" pitchFamily="34" charset="0"/>
                <a:ea typeface="Calibri" panose="020F0502020204030204" pitchFamily="34" charset="0"/>
                <a:cs typeface="Times New Roman" panose="02020603050405020304" pitchFamily="18" charset="0"/>
              </a:rPr>
              <a:t> 138	 143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144</a:t>
            </a:r>
            <a:r>
              <a:rPr lang="en-US" sz="2000" dirty="0">
                <a:effectLst/>
                <a:latin typeface="Calibri" panose="020F0502020204030204" pitchFamily="34" charset="0"/>
                <a:ea typeface="Calibri" panose="020F0502020204030204" pitchFamily="34" charset="0"/>
                <a:cs typeface="Times New Roman" panose="02020603050405020304" pitchFamily="18" charset="0"/>
              </a:rPr>
              <a:t>	 144	 145	 146     	146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146 </a:t>
            </a:r>
            <a:r>
              <a:rPr lang="en-US" sz="2000" dirty="0">
                <a:effectLst/>
                <a:latin typeface="Calibri" panose="020F0502020204030204" pitchFamily="34" charset="0"/>
                <a:ea typeface="Calibri" panose="020F0502020204030204" pitchFamily="34" charset="0"/>
                <a:cs typeface="Times New Roman" panose="02020603050405020304" pitchFamily="18" charset="0"/>
              </a:rPr>
              <a:t>	147      148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153</a:t>
            </a:r>
          </a:p>
        </p:txBody>
      </p:sp>
      <p:sp>
        <p:nvSpPr>
          <p:cNvPr id="6" name="TextBox 5">
            <a:extLst>
              <a:ext uri="{FF2B5EF4-FFF2-40B4-BE49-F238E27FC236}">
                <a16:creationId xmlns:a16="http://schemas.microsoft.com/office/drawing/2014/main" id="{4F717F6A-4B17-B782-6480-DA0950639674}"/>
              </a:ext>
            </a:extLst>
          </p:cNvPr>
          <p:cNvSpPr txBox="1"/>
          <p:nvPr/>
        </p:nvSpPr>
        <p:spPr>
          <a:xfrm>
            <a:off x="390524" y="2369799"/>
            <a:ext cx="6791325" cy="2784737"/>
          </a:xfrm>
          <a:prstGeom prst="rect">
            <a:avLst/>
          </a:prstGeom>
          <a:noFill/>
        </p:spPr>
        <p:txBody>
          <a:bodyPr wrap="square">
            <a:spAutoFit/>
          </a:bodyPr>
          <a:lstStyle/>
          <a:p>
            <a:pPr marL="342900" marR="0" lvl="0" indent="-342900" algn="just">
              <a:lnSpc>
                <a:spcPct val="200000"/>
              </a:lnSpc>
              <a:spcBef>
                <a:spcPts val="0"/>
              </a:spcBef>
              <a:spcAft>
                <a:spcPts val="0"/>
              </a:spcAft>
              <a:buFont typeface="Wingdings" panose="05000000000000000000" pitchFamily="2" charset="2"/>
              <a:buChar char=""/>
              <a:tabLst>
                <a:tab pos="457200" algn="l"/>
              </a:tabLst>
            </a:pPr>
            <a:r>
              <a:rPr lang="en-US" sz="1800" b="1"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Minimum</a:t>
            </a: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Wingdings" panose="05000000000000000000" pitchFamily="2" charset="2"/>
              <a:buChar char=""/>
              <a:tabLst>
                <a:tab pos="457200" algn="l"/>
              </a:tabLst>
            </a:pP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	</a:t>
            </a:r>
            <a:r>
              <a:rPr lang="en-US" sz="1800" b="1"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Q1</a:t>
            </a: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 (the first quartile, or the 25% mark).</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Wingdings" panose="05000000000000000000" pitchFamily="2" charset="2"/>
              <a:buChar char=""/>
              <a:tabLst>
                <a:tab pos="457200" algn="l"/>
              </a:tabLst>
            </a:pP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	</a:t>
            </a:r>
            <a:r>
              <a:rPr lang="en-US" sz="1800" b="1"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Median</a:t>
            </a: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Wingdings" panose="05000000000000000000" pitchFamily="2" charset="2"/>
              <a:buChar char=""/>
              <a:tabLst>
                <a:tab pos="457200" algn="l"/>
              </a:tabLst>
            </a:pP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	</a:t>
            </a:r>
            <a:r>
              <a:rPr lang="en-US" sz="1800" b="1"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Q3</a:t>
            </a: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 (the third quartile, or the 75% mark).</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200000"/>
              </a:lnSpc>
              <a:spcBef>
                <a:spcPts val="0"/>
              </a:spcBef>
              <a:spcAft>
                <a:spcPts val="0"/>
              </a:spcAft>
              <a:buFont typeface="Wingdings" panose="05000000000000000000" pitchFamily="2" charset="2"/>
              <a:buChar char=""/>
              <a:tabLst>
                <a:tab pos="457200" algn="l"/>
              </a:tabLst>
            </a:pP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	</a:t>
            </a:r>
            <a:r>
              <a:rPr lang="en-US" sz="1800" b="1"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Maximum</a:t>
            </a:r>
            <a:r>
              <a:rPr lang="en-US" sz="1800" dirty="0">
                <a:solidFill>
                  <a:srgbClr val="00000A"/>
                </a:solidFill>
                <a:effectLst/>
                <a:latin typeface="Calibri" panose="020F0502020204030204" pitchFamily="34" charset="0"/>
                <a:ea typeface="Ubuntu" panose="020B0504030602030204" pitchFamily="34" charset="0"/>
                <a:cs typeface="Times New Roman" panose="02020603050405020304" pitchFamily="18"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5169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C7924-41F1-34AE-93E5-6F6D2671BDBF}"/>
              </a:ext>
            </a:extLst>
          </p:cNvPr>
          <p:cNvSpPr txBox="1"/>
          <p:nvPr/>
        </p:nvSpPr>
        <p:spPr>
          <a:xfrm>
            <a:off x="119271" y="681965"/>
            <a:ext cx="4790660" cy="609782"/>
          </a:xfrm>
          <a:prstGeom prst="rect">
            <a:avLst/>
          </a:prstGeom>
          <a:noFill/>
        </p:spPr>
        <p:txBody>
          <a:bodyPr wrap="square">
            <a:spAutoFit/>
          </a:bodyPr>
          <a:lstStyle/>
          <a:p>
            <a:pPr lvl="1">
              <a:lnSpc>
                <a:spcPct val="150000"/>
              </a:lnSpc>
            </a:pPr>
            <a:r>
              <a:rPr lang="en-IN" sz="2500" b="1" dirty="0"/>
              <a:t>Measures of Central Tendency</a:t>
            </a:r>
          </a:p>
        </p:txBody>
      </p:sp>
      <p:pic>
        <p:nvPicPr>
          <p:cNvPr id="3" name="Picture 2"/>
          <p:cNvPicPr>
            <a:picLocks noChangeAspect="1"/>
          </p:cNvPicPr>
          <p:nvPr/>
        </p:nvPicPr>
        <p:blipFill>
          <a:blip r:embed="rId2"/>
          <a:stretch>
            <a:fillRect/>
          </a:stretch>
        </p:blipFill>
        <p:spPr>
          <a:xfrm>
            <a:off x="655002" y="2003611"/>
            <a:ext cx="10329545" cy="4025714"/>
          </a:xfrm>
          <a:prstGeom prst="rect">
            <a:avLst/>
          </a:prstGeom>
        </p:spPr>
      </p:pic>
    </p:spTree>
    <p:extLst>
      <p:ext uri="{BB962C8B-B14F-4D97-AF65-F5344CB8AC3E}">
        <p14:creationId xmlns:p14="http://schemas.microsoft.com/office/powerpoint/2010/main" val="1785971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8C7924-41F1-34AE-93E5-6F6D2671BDBF}"/>
              </a:ext>
            </a:extLst>
          </p:cNvPr>
          <p:cNvSpPr txBox="1"/>
          <p:nvPr/>
        </p:nvSpPr>
        <p:spPr>
          <a:xfrm>
            <a:off x="66675" y="634340"/>
            <a:ext cx="8420100" cy="609782"/>
          </a:xfrm>
          <a:prstGeom prst="rect">
            <a:avLst/>
          </a:prstGeom>
          <a:noFill/>
        </p:spPr>
        <p:txBody>
          <a:bodyPr wrap="square">
            <a:spAutoFit/>
          </a:bodyPr>
          <a:lstStyle/>
          <a:p>
            <a:pPr lvl="1">
              <a:lnSpc>
                <a:spcPct val="150000"/>
              </a:lnSpc>
            </a:pPr>
            <a:r>
              <a:rPr lang="en-IN" sz="2500" b="1" dirty="0"/>
              <a:t>Graphical </a:t>
            </a:r>
            <a:r>
              <a:rPr lang="en-IN" sz="2500" b="1" dirty="0" err="1"/>
              <a:t>Representation:Box</a:t>
            </a:r>
            <a:r>
              <a:rPr lang="en-IN" sz="2500" b="1" dirty="0"/>
              <a:t> plot</a:t>
            </a:r>
          </a:p>
        </p:txBody>
      </p:sp>
      <p:cxnSp>
        <p:nvCxnSpPr>
          <p:cNvPr id="57" name="Straight Connector 56">
            <a:extLst>
              <a:ext uri="{FF2B5EF4-FFF2-40B4-BE49-F238E27FC236}">
                <a16:creationId xmlns:a16="http://schemas.microsoft.com/office/drawing/2014/main" id="{D1587A78-D887-455A-3BE7-0FE8F4008EB9}"/>
              </a:ext>
            </a:extLst>
          </p:cNvPr>
          <p:cNvCxnSpPr>
            <a:cxnSpLocks/>
          </p:cNvCxnSpPr>
          <p:nvPr/>
        </p:nvCxnSpPr>
        <p:spPr>
          <a:xfrm>
            <a:off x="4348144" y="2068091"/>
            <a:ext cx="0" cy="17401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B2A8B91-66A9-5C9E-2C6E-8E9DEFED5063}"/>
              </a:ext>
            </a:extLst>
          </p:cNvPr>
          <p:cNvCxnSpPr>
            <a:cxnSpLocks/>
          </p:cNvCxnSpPr>
          <p:nvPr/>
        </p:nvCxnSpPr>
        <p:spPr>
          <a:xfrm>
            <a:off x="4348144" y="2068091"/>
            <a:ext cx="348029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CAAE752-1809-EA3C-1B6D-CA2563D07150}"/>
              </a:ext>
            </a:extLst>
          </p:cNvPr>
          <p:cNvCxnSpPr>
            <a:cxnSpLocks/>
          </p:cNvCxnSpPr>
          <p:nvPr/>
        </p:nvCxnSpPr>
        <p:spPr>
          <a:xfrm>
            <a:off x="4348144" y="3808239"/>
            <a:ext cx="34664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D012A9D-5156-99B2-A7E6-C8C2270A891E}"/>
              </a:ext>
            </a:extLst>
          </p:cNvPr>
          <p:cNvCxnSpPr>
            <a:cxnSpLocks/>
          </p:cNvCxnSpPr>
          <p:nvPr/>
        </p:nvCxnSpPr>
        <p:spPr>
          <a:xfrm>
            <a:off x="7814630" y="2068091"/>
            <a:ext cx="0" cy="17401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85965F4-08FB-FF74-76B5-988F4326D59E}"/>
              </a:ext>
            </a:extLst>
          </p:cNvPr>
          <p:cNvCxnSpPr>
            <a:cxnSpLocks/>
          </p:cNvCxnSpPr>
          <p:nvPr/>
        </p:nvCxnSpPr>
        <p:spPr>
          <a:xfrm>
            <a:off x="5997670" y="2065231"/>
            <a:ext cx="0" cy="174014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6307F3C-19A5-CC4A-903D-7F62F8888CC3}"/>
              </a:ext>
            </a:extLst>
          </p:cNvPr>
          <p:cNvCxnSpPr>
            <a:cxnSpLocks/>
          </p:cNvCxnSpPr>
          <p:nvPr/>
        </p:nvCxnSpPr>
        <p:spPr>
          <a:xfrm>
            <a:off x="1917462" y="2620518"/>
            <a:ext cx="0" cy="745777"/>
          </a:xfrm>
          <a:prstGeom prst="line">
            <a:avLst/>
          </a:prstGeom>
          <a:ln w="3810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182FD40-3B47-B547-3505-A3712C1DE045}"/>
              </a:ext>
            </a:extLst>
          </p:cNvPr>
          <p:cNvCxnSpPr>
            <a:cxnSpLocks/>
          </p:cNvCxnSpPr>
          <p:nvPr/>
        </p:nvCxnSpPr>
        <p:spPr>
          <a:xfrm>
            <a:off x="9695181" y="2622820"/>
            <a:ext cx="0" cy="745777"/>
          </a:xfrm>
          <a:prstGeom prst="line">
            <a:avLst/>
          </a:prstGeom>
          <a:ln w="38100">
            <a:solidFill>
              <a:srgbClr val="0033CC"/>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92A2754-D483-4F1C-6676-8385FD1E6076}"/>
              </a:ext>
            </a:extLst>
          </p:cNvPr>
          <p:cNvCxnSpPr>
            <a:cxnSpLocks/>
          </p:cNvCxnSpPr>
          <p:nvPr/>
        </p:nvCxnSpPr>
        <p:spPr>
          <a:xfrm>
            <a:off x="7828442" y="3007217"/>
            <a:ext cx="186673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967058-3B75-E168-D744-FAEC47BBD4EA}"/>
              </a:ext>
            </a:extLst>
          </p:cNvPr>
          <p:cNvCxnSpPr>
            <a:cxnSpLocks/>
          </p:cNvCxnSpPr>
          <p:nvPr/>
        </p:nvCxnSpPr>
        <p:spPr>
          <a:xfrm flipV="1">
            <a:off x="1838102" y="3007217"/>
            <a:ext cx="2430682" cy="230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E7362A4-664A-FFAA-927F-EC78C9F0C584}"/>
              </a:ext>
            </a:extLst>
          </p:cNvPr>
          <p:cNvCxnSpPr>
            <a:cxnSpLocks/>
          </p:cNvCxnSpPr>
          <p:nvPr/>
        </p:nvCxnSpPr>
        <p:spPr>
          <a:xfrm>
            <a:off x="2973228" y="2503681"/>
            <a:ext cx="64" cy="92531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5A5602F-3E7A-C450-4C3F-815ABC1C41F8}"/>
              </a:ext>
            </a:extLst>
          </p:cNvPr>
          <p:cNvCxnSpPr>
            <a:cxnSpLocks/>
          </p:cNvCxnSpPr>
          <p:nvPr/>
        </p:nvCxnSpPr>
        <p:spPr>
          <a:xfrm>
            <a:off x="8848438" y="2587800"/>
            <a:ext cx="0" cy="104754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D0E41EBB-5E46-E8A7-974D-6C0710EEE217}"/>
              </a:ext>
            </a:extLst>
          </p:cNvPr>
          <p:cNvSpPr>
            <a:spLocks noChangeArrowheads="1"/>
          </p:cNvSpPr>
          <p:nvPr/>
        </p:nvSpPr>
        <p:spPr bwMode="auto">
          <a:xfrm>
            <a:off x="4040280" y="3805379"/>
            <a:ext cx="65426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1</a:t>
            </a:r>
          </a:p>
        </p:txBody>
      </p:sp>
      <p:sp>
        <p:nvSpPr>
          <p:cNvPr id="69" name="Rectangle 68">
            <a:extLst>
              <a:ext uri="{FF2B5EF4-FFF2-40B4-BE49-F238E27FC236}">
                <a16:creationId xmlns:a16="http://schemas.microsoft.com/office/drawing/2014/main" id="{D963199D-EED0-8C41-46FC-9E0F1293A6A9}"/>
              </a:ext>
            </a:extLst>
          </p:cNvPr>
          <p:cNvSpPr>
            <a:spLocks noChangeArrowheads="1"/>
          </p:cNvSpPr>
          <p:nvPr/>
        </p:nvSpPr>
        <p:spPr bwMode="auto">
          <a:xfrm>
            <a:off x="5723061" y="3803949"/>
            <a:ext cx="549217"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2</a:t>
            </a:r>
          </a:p>
        </p:txBody>
      </p:sp>
      <p:sp>
        <p:nvSpPr>
          <p:cNvPr id="70" name="Rectangle 69">
            <a:extLst>
              <a:ext uri="{FF2B5EF4-FFF2-40B4-BE49-F238E27FC236}">
                <a16:creationId xmlns:a16="http://schemas.microsoft.com/office/drawing/2014/main" id="{2E54510C-FB21-EB66-64FB-D17AF10C4AF6}"/>
              </a:ext>
            </a:extLst>
          </p:cNvPr>
          <p:cNvSpPr>
            <a:spLocks noChangeArrowheads="1"/>
          </p:cNvSpPr>
          <p:nvPr/>
        </p:nvSpPr>
        <p:spPr bwMode="auto">
          <a:xfrm>
            <a:off x="7544602" y="3805379"/>
            <a:ext cx="549217"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3</a:t>
            </a:r>
          </a:p>
        </p:txBody>
      </p:sp>
      <p:sp>
        <p:nvSpPr>
          <p:cNvPr id="71" name="Rectangle 70">
            <a:extLst>
              <a:ext uri="{FF2B5EF4-FFF2-40B4-BE49-F238E27FC236}">
                <a16:creationId xmlns:a16="http://schemas.microsoft.com/office/drawing/2014/main" id="{2921F61B-4297-BE29-5038-A850BB672562}"/>
              </a:ext>
            </a:extLst>
          </p:cNvPr>
          <p:cNvSpPr>
            <a:spLocks noChangeArrowheads="1"/>
          </p:cNvSpPr>
          <p:nvPr/>
        </p:nvSpPr>
        <p:spPr bwMode="auto">
          <a:xfrm>
            <a:off x="1986875" y="1983065"/>
            <a:ext cx="187481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1</a:t>
            </a:r>
            <a:r>
              <a:rPr lang="en-US" sz="2625" b="1" dirty="0">
                <a:latin typeface="Helvetica LT Std Cond Light"/>
              </a:rPr>
              <a:t>-1.5 IQR</a:t>
            </a:r>
            <a:endParaRPr lang="en-US" sz="2625" b="1" baseline="-25000" dirty="0">
              <a:latin typeface="Helvetica LT Std Cond Light"/>
            </a:endParaRPr>
          </a:p>
        </p:txBody>
      </p:sp>
      <p:sp>
        <p:nvSpPr>
          <p:cNvPr id="72" name="Rectangle 71">
            <a:extLst>
              <a:ext uri="{FF2B5EF4-FFF2-40B4-BE49-F238E27FC236}">
                <a16:creationId xmlns:a16="http://schemas.microsoft.com/office/drawing/2014/main" id="{43DDA2AF-7608-53BE-A44D-A14DBBB39052}"/>
              </a:ext>
            </a:extLst>
          </p:cNvPr>
          <p:cNvSpPr>
            <a:spLocks noChangeArrowheads="1"/>
          </p:cNvSpPr>
          <p:nvPr/>
        </p:nvSpPr>
        <p:spPr bwMode="auto">
          <a:xfrm>
            <a:off x="9299686" y="3352487"/>
            <a:ext cx="80362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Max</a:t>
            </a:r>
            <a:endParaRPr lang="en-US" sz="2625" b="1" baseline="-25000" dirty="0">
              <a:latin typeface="Helvetica LT Std Cond Light"/>
            </a:endParaRPr>
          </a:p>
        </p:txBody>
      </p:sp>
      <p:sp>
        <p:nvSpPr>
          <p:cNvPr id="73" name="Rectangle 72">
            <a:extLst>
              <a:ext uri="{FF2B5EF4-FFF2-40B4-BE49-F238E27FC236}">
                <a16:creationId xmlns:a16="http://schemas.microsoft.com/office/drawing/2014/main" id="{54E4AA06-4E5D-EFA1-019D-22A1ACFA13C3}"/>
              </a:ext>
            </a:extLst>
          </p:cNvPr>
          <p:cNvSpPr>
            <a:spLocks noChangeArrowheads="1"/>
          </p:cNvSpPr>
          <p:nvPr/>
        </p:nvSpPr>
        <p:spPr bwMode="auto">
          <a:xfrm>
            <a:off x="1692299" y="3451463"/>
            <a:ext cx="803629"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Min</a:t>
            </a:r>
            <a:endParaRPr lang="en-US" sz="2625" b="1" baseline="-25000" dirty="0">
              <a:latin typeface="Helvetica LT Std Cond Light"/>
            </a:endParaRPr>
          </a:p>
        </p:txBody>
      </p:sp>
      <p:sp>
        <p:nvSpPr>
          <p:cNvPr id="74" name="Rectangle 73">
            <a:extLst>
              <a:ext uri="{FF2B5EF4-FFF2-40B4-BE49-F238E27FC236}">
                <a16:creationId xmlns:a16="http://schemas.microsoft.com/office/drawing/2014/main" id="{2E7180C6-5667-E619-5B98-7D7735F45996}"/>
              </a:ext>
            </a:extLst>
          </p:cNvPr>
          <p:cNvSpPr>
            <a:spLocks noChangeArrowheads="1"/>
          </p:cNvSpPr>
          <p:nvPr/>
        </p:nvSpPr>
        <p:spPr bwMode="auto">
          <a:xfrm>
            <a:off x="8277773" y="2022646"/>
            <a:ext cx="187481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Q</a:t>
            </a:r>
            <a:r>
              <a:rPr lang="en-US" sz="2625" b="1" baseline="-25000" dirty="0">
                <a:latin typeface="Helvetica LT Std Cond Light"/>
              </a:rPr>
              <a:t>3</a:t>
            </a:r>
            <a:r>
              <a:rPr lang="en-US" sz="2625" b="1" dirty="0">
                <a:latin typeface="Helvetica LT Std Cond Light"/>
              </a:rPr>
              <a:t>+1.5 IQR</a:t>
            </a:r>
            <a:endParaRPr lang="en-US" sz="2625" b="1" baseline="-25000" dirty="0">
              <a:latin typeface="Helvetica LT Std Cond Light"/>
            </a:endParaRPr>
          </a:p>
        </p:txBody>
      </p:sp>
      <p:sp>
        <p:nvSpPr>
          <p:cNvPr id="75" name="Rectangle 74">
            <a:extLst>
              <a:ext uri="{FF2B5EF4-FFF2-40B4-BE49-F238E27FC236}">
                <a16:creationId xmlns:a16="http://schemas.microsoft.com/office/drawing/2014/main" id="{E18F8271-21B8-2E4D-780C-D270B48996B3}"/>
              </a:ext>
            </a:extLst>
          </p:cNvPr>
          <p:cNvSpPr>
            <a:spLocks noChangeArrowheads="1"/>
          </p:cNvSpPr>
          <p:nvPr/>
        </p:nvSpPr>
        <p:spPr bwMode="auto">
          <a:xfrm>
            <a:off x="2154605" y="4626690"/>
            <a:ext cx="135648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Outlier</a:t>
            </a:r>
            <a:endParaRPr lang="en-US" sz="2625" b="1" baseline="-25000" dirty="0">
              <a:latin typeface="Helvetica LT Std Cond Light"/>
            </a:endParaRPr>
          </a:p>
        </p:txBody>
      </p:sp>
      <p:cxnSp>
        <p:nvCxnSpPr>
          <p:cNvPr id="76" name="Straight Arrow Connector 75">
            <a:extLst>
              <a:ext uri="{FF2B5EF4-FFF2-40B4-BE49-F238E27FC236}">
                <a16:creationId xmlns:a16="http://schemas.microsoft.com/office/drawing/2014/main" id="{D8E6A1FE-8A55-2E06-86FD-240BC592B4BA}"/>
              </a:ext>
            </a:extLst>
          </p:cNvPr>
          <p:cNvCxnSpPr>
            <a:cxnSpLocks/>
          </p:cNvCxnSpPr>
          <p:nvPr/>
        </p:nvCxnSpPr>
        <p:spPr>
          <a:xfrm flipH="1" flipV="1">
            <a:off x="2298576" y="3111573"/>
            <a:ext cx="534272" cy="147381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4DF795F4-89A1-BA48-BDAF-B735192F1BF9}"/>
              </a:ext>
            </a:extLst>
          </p:cNvPr>
          <p:cNvSpPr>
            <a:spLocks noChangeArrowheads="1"/>
          </p:cNvSpPr>
          <p:nvPr/>
        </p:nvSpPr>
        <p:spPr bwMode="auto">
          <a:xfrm>
            <a:off x="8536939" y="4373531"/>
            <a:ext cx="135648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Outlier</a:t>
            </a:r>
            <a:endParaRPr lang="en-US" sz="2625" b="1" baseline="-25000" dirty="0">
              <a:latin typeface="Helvetica LT Std Cond Light"/>
            </a:endParaRPr>
          </a:p>
        </p:txBody>
      </p:sp>
      <p:cxnSp>
        <p:nvCxnSpPr>
          <p:cNvPr id="78" name="Straight Arrow Connector 77">
            <a:extLst>
              <a:ext uri="{FF2B5EF4-FFF2-40B4-BE49-F238E27FC236}">
                <a16:creationId xmlns:a16="http://schemas.microsoft.com/office/drawing/2014/main" id="{A5BAFDF9-11E8-C098-BBE5-604B658246F4}"/>
              </a:ext>
            </a:extLst>
          </p:cNvPr>
          <p:cNvCxnSpPr>
            <a:cxnSpLocks/>
          </p:cNvCxnSpPr>
          <p:nvPr/>
        </p:nvCxnSpPr>
        <p:spPr>
          <a:xfrm flipV="1">
            <a:off x="9021096" y="3049814"/>
            <a:ext cx="281991" cy="131983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C91B49B2-8330-007E-363D-1254599E4AE4}"/>
              </a:ext>
            </a:extLst>
          </p:cNvPr>
          <p:cNvSpPr>
            <a:spLocks noChangeArrowheads="1"/>
          </p:cNvSpPr>
          <p:nvPr/>
        </p:nvSpPr>
        <p:spPr bwMode="auto">
          <a:xfrm>
            <a:off x="4893145" y="1450738"/>
            <a:ext cx="2390295" cy="462162"/>
          </a:xfrm>
          <a:prstGeom prst="rect">
            <a:avLst/>
          </a:prstGeom>
          <a:noFill/>
          <a:ln w="12700">
            <a:noFill/>
            <a:miter lim="800000"/>
            <a:headEnd/>
            <a:tailEnd/>
          </a:ln>
          <a:effectLst/>
        </p:spPr>
        <p:txBody>
          <a:bodyPr wrap="square" lIns="58672" tIns="28821" rIns="58672" bIns="28821">
            <a:spAutoFit/>
          </a:bodyPr>
          <a:lstStyle/>
          <a:p>
            <a:pPr algn="ctr" eaLnBrk="0" hangingPunct="0">
              <a:spcBef>
                <a:spcPct val="50000"/>
              </a:spcBef>
            </a:pPr>
            <a:r>
              <a:rPr lang="en-US" sz="2625" b="1" dirty="0">
                <a:latin typeface="Helvetica LT Std Cond Light"/>
              </a:rPr>
              <a:t>IQR = Q</a:t>
            </a:r>
            <a:r>
              <a:rPr lang="en-US" sz="2625" b="1" baseline="-25000" dirty="0">
                <a:latin typeface="Helvetica LT Std Cond Light"/>
              </a:rPr>
              <a:t>3</a:t>
            </a:r>
            <a:r>
              <a:rPr lang="en-US" sz="2625" b="1" dirty="0">
                <a:latin typeface="Helvetica LT Std Cond Light"/>
              </a:rPr>
              <a:t> – Q</a:t>
            </a:r>
            <a:r>
              <a:rPr lang="en-US" sz="2625" b="1" baseline="-25000" dirty="0">
                <a:latin typeface="Helvetica LT Std Cond Light"/>
              </a:rPr>
              <a:t>1</a:t>
            </a:r>
          </a:p>
        </p:txBody>
      </p:sp>
      <p:cxnSp>
        <p:nvCxnSpPr>
          <p:cNvPr id="80" name="Straight Arrow Connector 79">
            <a:extLst>
              <a:ext uri="{FF2B5EF4-FFF2-40B4-BE49-F238E27FC236}">
                <a16:creationId xmlns:a16="http://schemas.microsoft.com/office/drawing/2014/main" id="{DB0B09D2-BA66-3688-ACB2-563C7B301DA3}"/>
              </a:ext>
            </a:extLst>
          </p:cNvPr>
          <p:cNvCxnSpPr>
            <a:cxnSpLocks/>
          </p:cNvCxnSpPr>
          <p:nvPr/>
        </p:nvCxnSpPr>
        <p:spPr>
          <a:xfrm>
            <a:off x="4348144" y="1978203"/>
            <a:ext cx="3466486" cy="726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73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p:cTn id="7" dur="500" fill="hold"/>
                                        <p:tgtEl>
                                          <p:spTgt spid="62"/>
                                        </p:tgtEl>
                                        <p:attrNameLst>
                                          <p:attrName>ppt_w</p:attrName>
                                        </p:attrNameLst>
                                      </p:cBhvr>
                                      <p:tavLst>
                                        <p:tav tm="0">
                                          <p:val>
                                            <p:fltVal val="0"/>
                                          </p:val>
                                        </p:tav>
                                        <p:tav tm="100000">
                                          <p:val>
                                            <p:strVal val="#ppt_w"/>
                                          </p:val>
                                        </p:tav>
                                      </p:tavLst>
                                    </p:anim>
                                    <p:anim calcmode="lin" valueType="num">
                                      <p:cBhvr>
                                        <p:cTn id="8" dur="500" fill="hold"/>
                                        <p:tgtEl>
                                          <p:spTgt spid="62"/>
                                        </p:tgtEl>
                                        <p:attrNameLst>
                                          <p:attrName>ppt_h</p:attrName>
                                        </p:attrNameLst>
                                      </p:cBhvr>
                                      <p:tavLst>
                                        <p:tav tm="0">
                                          <p:val>
                                            <p:fltVal val="0"/>
                                          </p:val>
                                        </p:tav>
                                        <p:tav tm="100000">
                                          <p:val>
                                            <p:strVal val="#ppt_h"/>
                                          </p:val>
                                        </p:tav>
                                      </p:tavLst>
                                    </p:anim>
                                    <p:animEffect transition="in" filter="fade">
                                      <p:cBhvr>
                                        <p:cTn id="9" dur="500"/>
                                        <p:tgtEl>
                                          <p:spTgt spid="62"/>
                                        </p:tgtEl>
                                      </p:cBhvr>
                                    </p:animEffect>
                                  </p:childTnLst>
                                </p:cTn>
                              </p:par>
                              <p:par>
                                <p:cTn id="10" presetID="53" presetClass="entr" presetSubtype="16" fill="hold" nodeType="withEffect">
                                  <p:stCondLst>
                                    <p:cond delay="0"/>
                                  </p:stCondLst>
                                  <p:childTnLst>
                                    <p:set>
                                      <p:cBhvr>
                                        <p:cTn id="11" dur="1" fill="hold">
                                          <p:stCondLst>
                                            <p:cond delay="0"/>
                                          </p:stCondLst>
                                        </p:cTn>
                                        <p:tgtEl>
                                          <p:spTgt spid="65"/>
                                        </p:tgtEl>
                                        <p:attrNameLst>
                                          <p:attrName>style.visibility</p:attrName>
                                        </p:attrNameLst>
                                      </p:cBhvr>
                                      <p:to>
                                        <p:strVal val="visible"/>
                                      </p:to>
                                    </p:set>
                                    <p:anim calcmode="lin" valueType="num">
                                      <p:cBhvr>
                                        <p:cTn id="12" dur="500" fill="hold"/>
                                        <p:tgtEl>
                                          <p:spTgt spid="65"/>
                                        </p:tgtEl>
                                        <p:attrNameLst>
                                          <p:attrName>ppt_w</p:attrName>
                                        </p:attrNameLst>
                                      </p:cBhvr>
                                      <p:tavLst>
                                        <p:tav tm="0">
                                          <p:val>
                                            <p:fltVal val="0"/>
                                          </p:val>
                                        </p:tav>
                                        <p:tav tm="100000">
                                          <p:val>
                                            <p:strVal val="#ppt_w"/>
                                          </p:val>
                                        </p:tav>
                                      </p:tavLst>
                                    </p:anim>
                                    <p:anim calcmode="lin" valueType="num">
                                      <p:cBhvr>
                                        <p:cTn id="13" dur="500" fill="hold"/>
                                        <p:tgtEl>
                                          <p:spTgt spid="65"/>
                                        </p:tgtEl>
                                        <p:attrNameLst>
                                          <p:attrName>ppt_h</p:attrName>
                                        </p:attrNameLst>
                                      </p:cBhvr>
                                      <p:tavLst>
                                        <p:tav tm="0">
                                          <p:val>
                                            <p:fltVal val="0"/>
                                          </p:val>
                                        </p:tav>
                                        <p:tav tm="100000">
                                          <p:val>
                                            <p:strVal val="#ppt_h"/>
                                          </p:val>
                                        </p:tav>
                                      </p:tavLst>
                                    </p:anim>
                                    <p:animEffect transition="in" filter="fade">
                                      <p:cBhvr>
                                        <p:cTn id="14" dur="500"/>
                                        <p:tgtEl>
                                          <p:spTgt spid="65"/>
                                        </p:tgtEl>
                                      </p:cBhvr>
                                    </p:animEffect>
                                  </p:childTnLst>
                                </p:cTn>
                              </p:par>
                              <p:par>
                                <p:cTn id="15" presetID="53" presetClass="entr" presetSubtype="16" fill="hold" nodeType="with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p:cTn id="17" dur="500" fill="hold"/>
                                        <p:tgtEl>
                                          <p:spTgt spid="57"/>
                                        </p:tgtEl>
                                        <p:attrNameLst>
                                          <p:attrName>ppt_w</p:attrName>
                                        </p:attrNameLst>
                                      </p:cBhvr>
                                      <p:tavLst>
                                        <p:tav tm="0">
                                          <p:val>
                                            <p:fltVal val="0"/>
                                          </p:val>
                                        </p:tav>
                                        <p:tav tm="100000">
                                          <p:val>
                                            <p:strVal val="#ppt_w"/>
                                          </p:val>
                                        </p:tav>
                                      </p:tavLst>
                                    </p:anim>
                                    <p:anim calcmode="lin" valueType="num">
                                      <p:cBhvr>
                                        <p:cTn id="18" dur="500" fill="hold"/>
                                        <p:tgtEl>
                                          <p:spTgt spid="57"/>
                                        </p:tgtEl>
                                        <p:attrNameLst>
                                          <p:attrName>ppt_h</p:attrName>
                                        </p:attrNameLst>
                                      </p:cBhvr>
                                      <p:tavLst>
                                        <p:tav tm="0">
                                          <p:val>
                                            <p:fltVal val="0"/>
                                          </p:val>
                                        </p:tav>
                                        <p:tav tm="100000">
                                          <p:val>
                                            <p:strVal val="#ppt_h"/>
                                          </p:val>
                                        </p:tav>
                                      </p:tavLst>
                                    </p:anim>
                                    <p:animEffect transition="in" filter="fade">
                                      <p:cBhvr>
                                        <p:cTn id="19" dur="500"/>
                                        <p:tgtEl>
                                          <p:spTgt spid="57"/>
                                        </p:tgtEl>
                                      </p:cBhvr>
                                    </p:animEffect>
                                  </p:childTnLst>
                                </p:cTn>
                              </p:par>
                              <p:par>
                                <p:cTn id="20" presetID="53" presetClass="entr" presetSubtype="16" fill="hold" nodeType="withEffect">
                                  <p:stCondLst>
                                    <p:cond delay="0"/>
                                  </p:stCondLst>
                                  <p:childTnLst>
                                    <p:set>
                                      <p:cBhvr>
                                        <p:cTn id="21" dur="1" fill="hold">
                                          <p:stCondLst>
                                            <p:cond delay="0"/>
                                          </p:stCondLst>
                                        </p:cTn>
                                        <p:tgtEl>
                                          <p:spTgt spid="58"/>
                                        </p:tgtEl>
                                        <p:attrNameLst>
                                          <p:attrName>style.visibility</p:attrName>
                                        </p:attrNameLst>
                                      </p:cBhvr>
                                      <p:to>
                                        <p:strVal val="visible"/>
                                      </p:to>
                                    </p:set>
                                    <p:anim calcmode="lin" valueType="num">
                                      <p:cBhvr>
                                        <p:cTn id="22" dur="500" fill="hold"/>
                                        <p:tgtEl>
                                          <p:spTgt spid="58"/>
                                        </p:tgtEl>
                                        <p:attrNameLst>
                                          <p:attrName>ppt_w</p:attrName>
                                        </p:attrNameLst>
                                      </p:cBhvr>
                                      <p:tavLst>
                                        <p:tav tm="0">
                                          <p:val>
                                            <p:fltVal val="0"/>
                                          </p:val>
                                        </p:tav>
                                        <p:tav tm="100000">
                                          <p:val>
                                            <p:strVal val="#ppt_w"/>
                                          </p:val>
                                        </p:tav>
                                      </p:tavLst>
                                    </p:anim>
                                    <p:anim calcmode="lin" valueType="num">
                                      <p:cBhvr>
                                        <p:cTn id="23" dur="500" fill="hold"/>
                                        <p:tgtEl>
                                          <p:spTgt spid="58"/>
                                        </p:tgtEl>
                                        <p:attrNameLst>
                                          <p:attrName>ppt_h</p:attrName>
                                        </p:attrNameLst>
                                      </p:cBhvr>
                                      <p:tavLst>
                                        <p:tav tm="0">
                                          <p:val>
                                            <p:fltVal val="0"/>
                                          </p:val>
                                        </p:tav>
                                        <p:tav tm="100000">
                                          <p:val>
                                            <p:strVal val="#ppt_h"/>
                                          </p:val>
                                        </p:tav>
                                      </p:tavLst>
                                    </p:anim>
                                    <p:animEffect transition="in" filter="fade">
                                      <p:cBhvr>
                                        <p:cTn id="24" dur="500"/>
                                        <p:tgtEl>
                                          <p:spTgt spid="58"/>
                                        </p:tgtEl>
                                      </p:cBhvr>
                                    </p:animEffect>
                                  </p:childTnLst>
                                </p:cTn>
                              </p:par>
                              <p:par>
                                <p:cTn id="25" presetID="53" presetClass="entr" presetSubtype="16" fill="hold" nodeType="withEffect">
                                  <p:stCondLst>
                                    <p:cond delay="0"/>
                                  </p:stCondLst>
                                  <p:childTnLst>
                                    <p:set>
                                      <p:cBhvr>
                                        <p:cTn id="26" dur="1" fill="hold">
                                          <p:stCondLst>
                                            <p:cond delay="0"/>
                                          </p:stCondLst>
                                        </p:cTn>
                                        <p:tgtEl>
                                          <p:spTgt spid="59"/>
                                        </p:tgtEl>
                                        <p:attrNameLst>
                                          <p:attrName>style.visibility</p:attrName>
                                        </p:attrNameLst>
                                      </p:cBhvr>
                                      <p:to>
                                        <p:strVal val="visible"/>
                                      </p:to>
                                    </p:set>
                                    <p:anim calcmode="lin" valueType="num">
                                      <p:cBhvr>
                                        <p:cTn id="27" dur="500" fill="hold"/>
                                        <p:tgtEl>
                                          <p:spTgt spid="59"/>
                                        </p:tgtEl>
                                        <p:attrNameLst>
                                          <p:attrName>ppt_w</p:attrName>
                                        </p:attrNameLst>
                                      </p:cBhvr>
                                      <p:tavLst>
                                        <p:tav tm="0">
                                          <p:val>
                                            <p:fltVal val="0"/>
                                          </p:val>
                                        </p:tav>
                                        <p:tav tm="100000">
                                          <p:val>
                                            <p:strVal val="#ppt_w"/>
                                          </p:val>
                                        </p:tav>
                                      </p:tavLst>
                                    </p:anim>
                                    <p:anim calcmode="lin" valueType="num">
                                      <p:cBhvr>
                                        <p:cTn id="28" dur="500" fill="hold"/>
                                        <p:tgtEl>
                                          <p:spTgt spid="59"/>
                                        </p:tgtEl>
                                        <p:attrNameLst>
                                          <p:attrName>ppt_h</p:attrName>
                                        </p:attrNameLst>
                                      </p:cBhvr>
                                      <p:tavLst>
                                        <p:tav tm="0">
                                          <p:val>
                                            <p:fltVal val="0"/>
                                          </p:val>
                                        </p:tav>
                                        <p:tav tm="100000">
                                          <p:val>
                                            <p:strVal val="#ppt_h"/>
                                          </p:val>
                                        </p:tav>
                                      </p:tavLst>
                                    </p:anim>
                                    <p:animEffect transition="in" filter="fade">
                                      <p:cBhvr>
                                        <p:cTn id="29" dur="500"/>
                                        <p:tgtEl>
                                          <p:spTgt spid="59"/>
                                        </p:tgtEl>
                                      </p:cBhvr>
                                    </p:animEffect>
                                  </p:childTnLst>
                                </p:cTn>
                              </p:par>
                              <p:par>
                                <p:cTn id="30" presetID="53" presetClass="entr" presetSubtype="16" fill="hold" nodeType="withEffect">
                                  <p:stCondLst>
                                    <p:cond delay="0"/>
                                  </p:stCondLst>
                                  <p:childTnLst>
                                    <p:set>
                                      <p:cBhvr>
                                        <p:cTn id="31" dur="1" fill="hold">
                                          <p:stCondLst>
                                            <p:cond delay="0"/>
                                          </p:stCondLst>
                                        </p:cTn>
                                        <p:tgtEl>
                                          <p:spTgt spid="61"/>
                                        </p:tgtEl>
                                        <p:attrNameLst>
                                          <p:attrName>style.visibility</p:attrName>
                                        </p:attrNameLst>
                                      </p:cBhvr>
                                      <p:to>
                                        <p:strVal val="visible"/>
                                      </p:to>
                                    </p:set>
                                    <p:anim calcmode="lin" valueType="num">
                                      <p:cBhvr>
                                        <p:cTn id="32" dur="500" fill="hold"/>
                                        <p:tgtEl>
                                          <p:spTgt spid="61"/>
                                        </p:tgtEl>
                                        <p:attrNameLst>
                                          <p:attrName>ppt_w</p:attrName>
                                        </p:attrNameLst>
                                      </p:cBhvr>
                                      <p:tavLst>
                                        <p:tav tm="0">
                                          <p:val>
                                            <p:fltVal val="0"/>
                                          </p:val>
                                        </p:tav>
                                        <p:tav tm="100000">
                                          <p:val>
                                            <p:strVal val="#ppt_w"/>
                                          </p:val>
                                        </p:tav>
                                      </p:tavLst>
                                    </p:anim>
                                    <p:anim calcmode="lin" valueType="num">
                                      <p:cBhvr>
                                        <p:cTn id="33" dur="500" fill="hold"/>
                                        <p:tgtEl>
                                          <p:spTgt spid="61"/>
                                        </p:tgtEl>
                                        <p:attrNameLst>
                                          <p:attrName>ppt_h</p:attrName>
                                        </p:attrNameLst>
                                      </p:cBhvr>
                                      <p:tavLst>
                                        <p:tav tm="0">
                                          <p:val>
                                            <p:fltVal val="0"/>
                                          </p:val>
                                        </p:tav>
                                        <p:tav tm="100000">
                                          <p:val>
                                            <p:strVal val="#ppt_h"/>
                                          </p:val>
                                        </p:tav>
                                      </p:tavLst>
                                    </p:anim>
                                    <p:animEffect transition="in" filter="fade">
                                      <p:cBhvr>
                                        <p:cTn id="34" dur="500"/>
                                        <p:tgtEl>
                                          <p:spTgt spid="61"/>
                                        </p:tgtEl>
                                      </p:cBhvr>
                                    </p:animEffect>
                                  </p:childTnLst>
                                </p:cTn>
                              </p:par>
                              <p:par>
                                <p:cTn id="35" presetID="53" presetClass="entr" presetSubtype="16" fill="hold" nodeType="withEffect">
                                  <p:stCondLst>
                                    <p:cond delay="0"/>
                                  </p:stCondLst>
                                  <p:childTnLst>
                                    <p:set>
                                      <p:cBhvr>
                                        <p:cTn id="36" dur="1" fill="hold">
                                          <p:stCondLst>
                                            <p:cond delay="0"/>
                                          </p:stCondLst>
                                        </p:cTn>
                                        <p:tgtEl>
                                          <p:spTgt spid="60"/>
                                        </p:tgtEl>
                                        <p:attrNameLst>
                                          <p:attrName>style.visibility</p:attrName>
                                        </p:attrNameLst>
                                      </p:cBhvr>
                                      <p:to>
                                        <p:strVal val="visible"/>
                                      </p:to>
                                    </p:set>
                                    <p:anim calcmode="lin" valueType="num">
                                      <p:cBhvr>
                                        <p:cTn id="37" dur="500" fill="hold"/>
                                        <p:tgtEl>
                                          <p:spTgt spid="60"/>
                                        </p:tgtEl>
                                        <p:attrNameLst>
                                          <p:attrName>ppt_w</p:attrName>
                                        </p:attrNameLst>
                                      </p:cBhvr>
                                      <p:tavLst>
                                        <p:tav tm="0">
                                          <p:val>
                                            <p:fltVal val="0"/>
                                          </p:val>
                                        </p:tav>
                                        <p:tav tm="100000">
                                          <p:val>
                                            <p:strVal val="#ppt_w"/>
                                          </p:val>
                                        </p:tav>
                                      </p:tavLst>
                                    </p:anim>
                                    <p:anim calcmode="lin" valueType="num">
                                      <p:cBhvr>
                                        <p:cTn id="38" dur="500" fill="hold"/>
                                        <p:tgtEl>
                                          <p:spTgt spid="60"/>
                                        </p:tgtEl>
                                        <p:attrNameLst>
                                          <p:attrName>ppt_h</p:attrName>
                                        </p:attrNameLst>
                                      </p:cBhvr>
                                      <p:tavLst>
                                        <p:tav tm="0">
                                          <p:val>
                                            <p:fltVal val="0"/>
                                          </p:val>
                                        </p:tav>
                                        <p:tav tm="100000">
                                          <p:val>
                                            <p:strVal val="#ppt_h"/>
                                          </p:val>
                                        </p:tav>
                                      </p:tavLst>
                                    </p:anim>
                                    <p:animEffect transition="in" filter="fade">
                                      <p:cBhvr>
                                        <p:cTn id="39" dur="500"/>
                                        <p:tgtEl>
                                          <p:spTgt spid="60"/>
                                        </p:tgtEl>
                                      </p:cBhvr>
                                    </p:animEffect>
                                  </p:childTnLst>
                                </p:cTn>
                              </p:par>
                              <p:par>
                                <p:cTn id="40" presetID="53" presetClass="entr" presetSubtype="16" fill="hold" nodeType="withEffect">
                                  <p:stCondLst>
                                    <p:cond delay="0"/>
                                  </p:stCondLst>
                                  <p:childTnLst>
                                    <p:set>
                                      <p:cBhvr>
                                        <p:cTn id="41" dur="1" fill="hold">
                                          <p:stCondLst>
                                            <p:cond delay="0"/>
                                          </p:stCondLst>
                                        </p:cTn>
                                        <p:tgtEl>
                                          <p:spTgt spid="64"/>
                                        </p:tgtEl>
                                        <p:attrNameLst>
                                          <p:attrName>style.visibility</p:attrName>
                                        </p:attrNameLst>
                                      </p:cBhvr>
                                      <p:to>
                                        <p:strVal val="visible"/>
                                      </p:to>
                                    </p:set>
                                    <p:anim calcmode="lin" valueType="num">
                                      <p:cBhvr>
                                        <p:cTn id="42" dur="500" fill="hold"/>
                                        <p:tgtEl>
                                          <p:spTgt spid="64"/>
                                        </p:tgtEl>
                                        <p:attrNameLst>
                                          <p:attrName>ppt_w</p:attrName>
                                        </p:attrNameLst>
                                      </p:cBhvr>
                                      <p:tavLst>
                                        <p:tav tm="0">
                                          <p:val>
                                            <p:fltVal val="0"/>
                                          </p:val>
                                        </p:tav>
                                        <p:tav tm="100000">
                                          <p:val>
                                            <p:strVal val="#ppt_w"/>
                                          </p:val>
                                        </p:tav>
                                      </p:tavLst>
                                    </p:anim>
                                    <p:anim calcmode="lin" valueType="num">
                                      <p:cBhvr>
                                        <p:cTn id="43" dur="500" fill="hold"/>
                                        <p:tgtEl>
                                          <p:spTgt spid="64"/>
                                        </p:tgtEl>
                                        <p:attrNameLst>
                                          <p:attrName>ppt_h</p:attrName>
                                        </p:attrNameLst>
                                      </p:cBhvr>
                                      <p:tavLst>
                                        <p:tav tm="0">
                                          <p:val>
                                            <p:fltVal val="0"/>
                                          </p:val>
                                        </p:tav>
                                        <p:tav tm="100000">
                                          <p:val>
                                            <p:strVal val="#ppt_h"/>
                                          </p:val>
                                        </p:tav>
                                      </p:tavLst>
                                    </p:anim>
                                    <p:animEffect transition="in" filter="fade">
                                      <p:cBhvr>
                                        <p:cTn id="44" dur="500"/>
                                        <p:tgtEl>
                                          <p:spTgt spid="64"/>
                                        </p:tgtEl>
                                      </p:cBhvr>
                                    </p:animEffect>
                                  </p:childTnLst>
                                </p:cTn>
                              </p:par>
                              <p:par>
                                <p:cTn id="45" presetID="53" presetClass="entr" presetSubtype="16" fill="hold" nodeType="withEffect">
                                  <p:stCondLst>
                                    <p:cond delay="0"/>
                                  </p:stCondLst>
                                  <p:childTnLst>
                                    <p:set>
                                      <p:cBhvr>
                                        <p:cTn id="46" dur="1" fill="hold">
                                          <p:stCondLst>
                                            <p:cond delay="0"/>
                                          </p:stCondLst>
                                        </p:cTn>
                                        <p:tgtEl>
                                          <p:spTgt spid="63"/>
                                        </p:tgtEl>
                                        <p:attrNameLst>
                                          <p:attrName>style.visibility</p:attrName>
                                        </p:attrNameLst>
                                      </p:cBhvr>
                                      <p:to>
                                        <p:strVal val="visible"/>
                                      </p:to>
                                    </p:set>
                                    <p:anim calcmode="lin" valueType="num">
                                      <p:cBhvr>
                                        <p:cTn id="47" dur="500" fill="hold"/>
                                        <p:tgtEl>
                                          <p:spTgt spid="63"/>
                                        </p:tgtEl>
                                        <p:attrNameLst>
                                          <p:attrName>ppt_w</p:attrName>
                                        </p:attrNameLst>
                                      </p:cBhvr>
                                      <p:tavLst>
                                        <p:tav tm="0">
                                          <p:val>
                                            <p:fltVal val="0"/>
                                          </p:val>
                                        </p:tav>
                                        <p:tav tm="100000">
                                          <p:val>
                                            <p:strVal val="#ppt_w"/>
                                          </p:val>
                                        </p:tav>
                                      </p:tavLst>
                                    </p:anim>
                                    <p:anim calcmode="lin" valueType="num">
                                      <p:cBhvr>
                                        <p:cTn id="48" dur="500" fill="hold"/>
                                        <p:tgtEl>
                                          <p:spTgt spid="63"/>
                                        </p:tgtEl>
                                        <p:attrNameLst>
                                          <p:attrName>ppt_h</p:attrName>
                                        </p:attrNameLst>
                                      </p:cBhvr>
                                      <p:tavLst>
                                        <p:tav tm="0">
                                          <p:val>
                                            <p:fltVal val="0"/>
                                          </p:val>
                                        </p:tav>
                                        <p:tav tm="100000">
                                          <p:val>
                                            <p:strVal val="#ppt_h"/>
                                          </p:val>
                                        </p:tav>
                                      </p:tavLst>
                                    </p:anim>
                                    <p:animEffect transition="in" filter="fade">
                                      <p:cBhvr>
                                        <p:cTn id="49" dur="500"/>
                                        <p:tgtEl>
                                          <p:spTgt spid="63"/>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79"/>
                                        </p:tgtEl>
                                        <p:attrNameLst>
                                          <p:attrName>style.visibility</p:attrName>
                                        </p:attrNameLst>
                                      </p:cBhvr>
                                      <p:to>
                                        <p:strVal val="visible"/>
                                      </p:to>
                                    </p:set>
                                    <p:anim calcmode="lin" valueType="num">
                                      <p:cBhvr>
                                        <p:cTn id="54" dur="500" fill="hold"/>
                                        <p:tgtEl>
                                          <p:spTgt spid="79"/>
                                        </p:tgtEl>
                                        <p:attrNameLst>
                                          <p:attrName>ppt_w</p:attrName>
                                        </p:attrNameLst>
                                      </p:cBhvr>
                                      <p:tavLst>
                                        <p:tav tm="0">
                                          <p:val>
                                            <p:fltVal val="0"/>
                                          </p:val>
                                        </p:tav>
                                        <p:tav tm="100000">
                                          <p:val>
                                            <p:strVal val="#ppt_w"/>
                                          </p:val>
                                        </p:tav>
                                      </p:tavLst>
                                    </p:anim>
                                    <p:anim calcmode="lin" valueType="num">
                                      <p:cBhvr>
                                        <p:cTn id="55" dur="500" fill="hold"/>
                                        <p:tgtEl>
                                          <p:spTgt spid="79"/>
                                        </p:tgtEl>
                                        <p:attrNameLst>
                                          <p:attrName>ppt_h</p:attrName>
                                        </p:attrNameLst>
                                      </p:cBhvr>
                                      <p:tavLst>
                                        <p:tav tm="0">
                                          <p:val>
                                            <p:fltVal val="0"/>
                                          </p:val>
                                        </p:tav>
                                        <p:tav tm="100000">
                                          <p:val>
                                            <p:strVal val="#ppt_h"/>
                                          </p:val>
                                        </p:tav>
                                      </p:tavLst>
                                    </p:anim>
                                    <p:animEffect transition="in" filter="fade">
                                      <p:cBhvr>
                                        <p:cTn id="56" dur="500"/>
                                        <p:tgtEl>
                                          <p:spTgt spid="79"/>
                                        </p:tgtEl>
                                      </p:cBhvr>
                                    </p:animEffect>
                                  </p:childTnLst>
                                </p:cTn>
                              </p:par>
                              <p:par>
                                <p:cTn id="57" presetID="2" presetClass="entr" presetSubtype="1" fill="hold" nodeType="withEffect">
                                  <p:stCondLst>
                                    <p:cond delay="0"/>
                                  </p:stCondLst>
                                  <p:childTnLst>
                                    <p:set>
                                      <p:cBhvr>
                                        <p:cTn id="58" dur="1" fill="hold">
                                          <p:stCondLst>
                                            <p:cond delay="0"/>
                                          </p:stCondLst>
                                        </p:cTn>
                                        <p:tgtEl>
                                          <p:spTgt spid="80"/>
                                        </p:tgtEl>
                                        <p:attrNameLst>
                                          <p:attrName>style.visibility</p:attrName>
                                        </p:attrNameLst>
                                      </p:cBhvr>
                                      <p:to>
                                        <p:strVal val="visible"/>
                                      </p:to>
                                    </p:set>
                                    <p:anim calcmode="lin" valueType="num">
                                      <p:cBhvr additive="base">
                                        <p:cTn id="59" dur="500" fill="hold"/>
                                        <p:tgtEl>
                                          <p:spTgt spid="80"/>
                                        </p:tgtEl>
                                        <p:attrNameLst>
                                          <p:attrName>ppt_x</p:attrName>
                                        </p:attrNameLst>
                                      </p:cBhvr>
                                      <p:tavLst>
                                        <p:tav tm="0">
                                          <p:val>
                                            <p:strVal val="#ppt_x"/>
                                          </p:val>
                                        </p:tav>
                                        <p:tav tm="100000">
                                          <p:val>
                                            <p:strVal val="#ppt_x"/>
                                          </p:val>
                                        </p:tav>
                                      </p:tavLst>
                                    </p:anim>
                                    <p:anim calcmode="lin" valueType="num">
                                      <p:cBhvr additive="base">
                                        <p:cTn id="60" dur="500" fill="hold"/>
                                        <p:tgtEl>
                                          <p:spTgt spid="80"/>
                                        </p:tgtEl>
                                        <p:attrNameLst>
                                          <p:attrName>ppt_y</p:attrName>
                                        </p:attrNameLst>
                                      </p:cBhvr>
                                      <p:tavLst>
                                        <p:tav tm="0">
                                          <p:val>
                                            <p:strVal val="0-#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73"/>
                                        </p:tgtEl>
                                        <p:attrNameLst>
                                          <p:attrName>style.visibility</p:attrName>
                                        </p:attrNameLst>
                                      </p:cBhvr>
                                      <p:to>
                                        <p:strVal val="visible"/>
                                      </p:to>
                                    </p:set>
                                    <p:anim calcmode="lin" valueType="num">
                                      <p:cBhvr>
                                        <p:cTn id="65" dur="500" fill="hold"/>
                                        <p:tgtEl>
                                          <p:spTgt spid="73"/>
                                        </p:tgtEl>
                                        <p:attrNameLst>
                                          <p:attrName>ppt_w</p:attrName>
                                        </p:attrNameLst>
                                      </p:cBhvr>
                                      <p:tavLst>
                                        <p:tav tm="0">
                                          <p:val>
                                            <p:fltVal val="0"/>
                                          </p:val>
                                        </p:tav>
                                        <p:tav tm="100000">
                                          <p:val>
                                            <p:strVal val="#ppt_w"/>
                                          </p:val>
                                        </p:tav>
                                      </p:tavLst>
                                    </p:anim>
                                    <p:anim calcmode="lin" valueType="num">
                                      <p:cBhvr>
                                        <p:cTn id="66" dur="500" fill="hold"/>
                                        <p:tgtEl>
                                          <p:spTgt spid="73"/>
                                        </p:tgtEl>
                                        <p:attrNameLst>
                                          <p:attrName>ppt_h</p:attrName>
                                        </p:attrNameLst>
                                      </p:cBhvr>
                                      <p:tavLst>
                                        <p:tav tm="0">
                                          <p:val>
                                            <p:fltVal val="0"/>
                                          </p:val>
                                        </p:tav>
                                        <p:tav tm="100000">
                                          <p:val>
                                            <p:strVal val="#ppt_h"/>
                                          </p:val>
                                        </p:tav>
                                      </p:tavLst>
                                    </p:anim>
                                    <p:animEffect transition="in" filter="fade">
                                      <p:cBhvr>
                                        <p:cTn id="67" dur="500"/>
                                        <p:tgtEl>
                                          <p:spTgt spid="73"/>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68"/>
                                        </p:tgtEl>
                                        <p:attrNameLst>
                                          <p:attrName>style.visibility</p:attrName>
                                        </p:attrNameLst>
                                      </p:cBhvr>
                                      <p:to>
                                        <p:strVal val="visible"/>
                                      </p:to>
                                    </p:set>
                                    <p:anim calcmode="lin" valueType="num">
                                      <p:cBhvr>
                                        <p:cTn id="72" dur="500" fill="hold"/>
                                        <p:tgtEl>
                                          <p:spTgt spid="68"/>
                                        </p:tgtEl>
                                        <p:attrNameLst>
                                          <p:attrName>ppt_w</p:attrName>
                                        </p:attrNameLst>
                                      </p:cBhvr>
                                      <p:tavLst>
                                        <p:tav tm="0">
                                          <p:val>
                                            <p:fltVal val="0"/>
                                          </p:val>
                                        </p:tav>
                                        <p:tav tm="100000">
                                          <p:val>
                                            <p:strVal val="#ppt_w"/>
                                          </p:val>
                                        </p:tav>
                                      </p:tavLst>
                                    </p:anim>
                                    <p:anim calcmode="lin" valueType="num">
                                      <p:cBhvr>
                                        <p:cTn id="73" dur="500" fill="hold"/>
                                        <p:tgtEl>
                                          <p:spTgt spid="68"/>
                                        </p:tgtEl>
                                        <p:attrNameLst>
                                          <p:attrName>ppt_h</p:attrName>
                                        </p:attrNameLst>
                                      </p:cBhvr>
                                      <p:tavLst>
                                        <p:tav tm="0">
                                          <p:val>
                                            <p:fltVal val="0"/>
                                          </p:val>
                                        </p:tav>
                                        <p:tav tm="100000">
                                          <p:val>
                                            <p:strVal val="#ppt_h"/>
                                          </p:val>
                                        </p:tav>
                                      </p:tavLst>
                                    </p:anim>
                                    <p:animEffect transition="in" filter="fade">
                                      <p:cBhvr>
                                        <p:cTn id="74" dur="500"/>
                                        <p:tgtEl>
                                          <p:spTgt spid="68"/>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69"/>
                                        </p:tgtEl>
                                        <p:attrNameLst>
                                          <p:attrName>style.visibility</p:attrName>
                                        </p:attrNameLst>
                                      </p:cBhvr>
                                      <p:to>
                                        <p:strVal val="visible"/>
                                      </p:to>
                                    </p:set>
                                    <p:anim calcmode="lin" valueType="num">
                                      <p:cBhvr>
                                        <p:cTn id="79" dur="500" fill="hold"/>
                                        <p:tgtEl>
                                          <p:spTgt spid="69"/>
                                        </p:tgtEl>
                                        <p:attrNameLst>
                                          <p:attrName>ppt_w</p:attrName>
                                        </p:attrNameLst>
                                      </p:cBhvr>
                                      <p:tavLst>
                                        <p:tav tm="0">
                                          <p:val>
                                            <p:fltVal val="0"/>
                                          </p:val>
                                        </p:tav>
                                        <p:tav tm="100000">
                                          <p:val>
                                            <p:strVal val="#ppt_w"/>
                                          </p:val>
                                        </p:tav>
                                      </p:tavLst>
                                    </p:anim>
                                    <p:anim calcmode="lin" valueType="num">
                                      <p:cBhvr>
                                        <p:cTn id="80" dur="500" fill="hold"/>
                                        <p:tgtEl>
                                          <p:spTgt spid="69"/>
                                        </p:tgtEl>
                                        <p:attrNameLst>
                                          <p:attrName>ppt_h</p:attrName>
                                        </p:attrNameLst>
                                      </p:cBhvr>
                                      <p:tavLst>
                                        <p:tav tm="0">
                                          <p:val>
                                            <p:fltVal val="0"/>
                                          </p:val>
                                        </p:tav>
                                        <p:tav tm="100000">
                                          <p:val>
                                            <p:strVal val="#ppt_h"/>
                                          </p:val>
                                        </p:tav>
                                      </p:tavLst>
                                    </p:anim>
                                    <p:animEffect transition="in" filter="fade">
                                      <p:cBhvr>
                                        <p:cTn id="81" dur="500"/>
                                        <p:tgtEl>
                                          <p:spTgt spid="69"/>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70"/>
                                        </p:tgtEl>
                                        <p:attrNameLst>
                                          <p:attrName>style.visibility</p:attrName>
                                        </p:attrNameLst>
                                      </p:cBhvr>
                                      <p:to>
                                        <p:strVal val="visible"/>
                                      </p:to>
                                    </p:set>
                                    <p:anim calcmode="lin" valueType="num">
                                      <p:cBhvr>
                                        <p:cTn id="86" dur="500" fill="hold"/>
                                        <p:tgtEl>
                                          <p:spTgt spid="70"/>
                                        </p:tgtEl>
                                        <p:attrNameLst>
                                          <p:attrName>ppt_w</p:attrName>
                                        </p:attrNameLst>
                                      </p:cBhvr>
                                      <p:tavLst>
                                        <p:tav tm="0">
                                          <p:val>
                                            <p:fltVal val="0"/>
                                          </p:val>
                                        </p:tav>
                                        <p:tav tm="100000">
                                          <p:val>
                                            <p:strVal val="#ppt_w"/>
                                          </p:val>
                                        </p:tav>
                                      </p:tavLst>
                                    </p:anim>
                                    <p:anim calcmode="lin" valueType="num">
                                      <p:cBhvr>
                                        <p:cTn id="87" dur="500" fill="hold"/>
                                        <p:tgtEl>
                                          <p:spTgt spid="70"/>
                                        </p:tgtEl>
                                        <p:attrNameLst>
                                          <p:attrName>ppt_h</p:attrName>
                                        </p:attrNameLst>
                                      </p:cBhvr>
                                      <p:tavLst>
                                        <p:tav tm="0">
                                          <p:val>
                                            <p:fltVal val="0"/>
                                          </p:val>
                                        </p:tav>
                                        <p:tav tm="100000">
                                          <p:val>
                                            <p:strVal val="#ppt_h"/>
                                          </p:val>
                                        </p:tav>
                                      </p:tavLst>
                                    </p:anim>
                                    <p:animEffect transition="in" filter="fade">
                                      <p:cBhvr>
                                        <p:cTn id="88" dur="500"/>
                                        <p:tgtEl>
                                          <p:spTgt spid="70"/>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72"/>
                                        </p:tgtEl>
                                        <p:attrNameLst>
                                          <p:attrName>style.visibility</p:attrName>
                                        </p:attrNameLst>
                                      </p:cBhvr>
                                      <p:to>
                                        <p:strVal val="visible"/>
                                      </p:to>
                                    </p:set>
                                    <p:anim calcmode="lin" valueType="num">
                                      <p:cBhvr>
                                        <p:cTn id="93" dur="500" fill="hold"/>
                                        <p:tgtEl>
                                          <p:spTgt spid="72"/>
                                        </p:tgtEl>
                                        <p:attrNameLst>
                                          <p:attrName>ppt_w</p:attrName>
                                        </p:attrNameLst>
                                      </p:cBhvr>
                                      <p:tavLst>
                                        <p:tav tm="0">
                                          <p:val>
                                            <p:fltVal val="0"/>
                                          </p:val>
                                        </p:tav>
                                        <p:tav tm="100000">
                                          <p:val>
                                            <p:strVal val="#ppt_w"/>
                                          </p:val>
                                        </p:tav>
                                      </p:tavLst>
                                    </p:anim>
                                    <p:anim calcmode="lin" valueType="num">
                                      <p:cBhvr>
                                        <p:cTn id="94" dur="500" fill="hold"/>
                                        <p:tgtEl>
                                          <p:spTgt spid="72"/>
                                        </p:tgtEl>
                                        <p:attrNameLst>
                                          <p:attrName>ppt_h</p:attrName>
                                        </p:attrNameLst>
                                      </p:cBhvr>
                                      <p:tavLst>
                                        <p:tav tm="0">
                                          <p:val>
                                            <p:fltVal val="0"/>
                                          </p:val>
                                        </p:tav>
                                        <p:tav tm="100000">
                                          <p:val>
                                            <p:strVal val="#ppt_h"/>
                                          </p:val>
                                        </p:tav>
                                      </p:tavLst>
                                    </p:anim>
                                    <p:animEffect transition="in" filter="fade">
                                      <p:cBhvr>
                                        <p:cTn id="95" dur="500"/>
                                        <p:tgtEl>
                                          <p:spTgt spid="72"/>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71"/>
                                        </p:tgtEl>
                                        <p:attrNameLst>
                                          <p:attrName>style.visibility</p:attrName>
                                        </p:attrNameLst>
                                      </p:cBhvr>
                                      <p:to>
                                        <p:strVal val="visible"/>
                                      </p:to>
                                    </p:set>
                                    <p:anim calcmode="lin" valueType="num">
                                      <p:cBhvr>
                                        <p:cTn id="100" dur="500" fill="hold"/>
                                        <p:tgtEl>
                                          <p:spTgt spid="71"/>
                                        </p:tgtEl>
                                        <p:attrNameLst>
                                          <p:attrName>ppt_w</p:attrName>
                                        </p:attrNameLst>
                                      </p:cBhvr>
                                      <p:tavLst>
                                        <p:tav tm="0">
                                          <p:val>
                                            <p:fltVal val="0"/>
                                          </p:val>
                                        </p:tav>
                                        <p:tav tm="100000">
                                          <p:val>
                                            <p:strVal val="#ppt_w"/>
                                          </p:val>
                                        </p:tav>
                                      </p:tavLst>
                                    </p:anim>
                                    <p:anim calcmode="lin" valueType="num">
                                      <p:cBhvr>
                                        <p:cTn id="101" dur="500" fill="hold"/>
                                        <p:tgtEl>
                                          <p:spTgt spid="71"/>
                                        </p:tgtEl>
                                        <p:attrNameLst>
                                          <p:attrName>ppt_h</p:attrName>
                                        </p:attrNameLst>
                                      </p:cBhvr>
                                      <p:tavLst>
                                        <p:tav tm="0">
                                          <p:val>
                                            <p:fltVal val="0"/>
                                          </p:val>
                                        </p:tav>
                                        <p:tav tm="100000">
                                          <p:val>
                                            <p:strVal val="#ppt_h"/>
                                          </p:val>
                                        </p:tav>
                                      </p:tavLst>
                                    </p:anim>
                                    <p:animEffect transition="in" filter="fade">
                                      <p:cBhvr>
                                        <p:cTn id="102" dur="500"/>
                                        <p:tgtEl>
                                          <p:spTgt spid="71"/>
                                        </p:tgtEl>
                                      </p:cBhvr>
                                    </p:animEffect>
                                  </p:childTnLst>
                                </p:cTn>
                              </p:par>
                              <p:par>
                                <p:cTn id="103" presetID="2" presetClass="entr" presetSubtype="1" fill="hold" nodeType="withEffect">
                                  <p:stCondLst>
                                    <p:cond delay="0"/>
                                  </p:stCondLst>
                                  <p:childTnLst>
                                    <p:set>
                                      <p:cBhvr>
                                        <p:cTn id="104" dur="1" fill="hold">
                                          <p:stCondLst>
                                            <p:cond delay="0"/>
                                          </p:stCondLst>
                                        </p:cTn>
                                        <p:tgtEl>
                                          <p:spTgt spid="66"/>
                                        </p:tgtEl>
                                        <p:attrNameLst>
                                          <p:attrName>style.visibility</p:attrName>
                                        </p:attrNameLst>
                                      </p:cBhvr>
                                      <p:to>
                                        <p:strVal val="visible"/>
                                      </p:to>
                                    </p:set>
                                    <p:anim calcmode="lin" valueType="num">
                                      <p:cBhvr additive="base">
                                        <p:cTn id="105" dur="500" fill="hold"/>
                                        <p:tgtEl>
                                          <p:spTgt spid="66"/>
                                        </p:tgtEl>
                                        <p:attrNameLst>
                                          <p:attrName>ppt_x</p:attrName>
                                        </p:attrNameLst>
                                      </p:cBhvr>
                                      <p:tavLst>
                                        <p:tav tm="0">
                                          <p:val>
                                            <p:strVal val="#ppt_x"/>
                                          </p:val>
                                        </p:tav>
                                        <p:tav tm="100000">
                                          <p:val>
                                            <p:strVal val="#ppt_x"/>
                                          </p:val>
                                        </p:tav>
                                      </p:tavLst>
                                    </p:anim>
                                    <p:anim calcmode="lin" valueType="num">
                                      <p:cBhvr additive="base">
                                        <p:cTn id="106" dur="500" fill="hold"/>
                                        <p:tgtEl>
                                          <p:spTgt spid="66"/>
                                        </p:tgtEl>
                                        <p:attrNameLst>
                                          <p:attrName>ppt_y</p:attrName>
                                        </p:attrNameLst>
                                      </p:cBhvr>
                                      <p:tavLst>
                                        <p:tav tm="0">
                                          <p:val>
                                            <p:strVal val="0-#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53" presetClass="entr" presetSubtype="16" fill="hold" grpId="0" nodeType="clickEffect">
                                  <p:stCondLst>
                                    <p:cond delay="0"/>
                                  </p:stCondLst>
                                  <p:childTnLst>
                                    <p:set>
                                      <p:cBhvr>
                                        <p:cTn id="110" dur="1" fill="hold">
                                          <p:stCondLst>
                                            <p:cond delay="0"/>
                                          </p:stCondLst>
                                        </p:cTn>
                                        <p:tgtEl>
                                          <p:spTgt spid="74"/>
                                        </p:tgtEl>
                                        <p:attrNameLst>
                                          <p:attrName>style.visibility</p:attrName>
                                        </p:attrNameLst>
                                      </p:cBhvr>
                                      <p:to>
                                        <p:strVal val="visible"/>
                                      </p:to>
                                    </p:set>
                                    <p:anim calcmode="lin" valueType="num">
                                      <p:cBhvr>
                                        <p:cTn id="111" dur="500" fill="hold"/>
                                        <p:tgtEl>
                                          <p:spTgt spid="74"/>
                                        </p:tgtEl>
                                        <p:attrNameLst>
                                          <p:attrName>ppt_w</p:attrName>
                                        </p:attrNameLst>
                                      </p:cBhvr>
                                      <p:tavLst>
                                        <p:tav tm="0">
                                          <p:val>
                                            <p:fltVal val="0"/>
                                          </p:val>
                                        </p:tav>
                                        <p:tav tm="100000">
                                          <p:val>
                                            <p:strVal val="#ppt_w"/>
                                          </p:val>
                                        </p:tav>
                                      </p:tavLst>
                                    </p:anim>
                                    <p:anim calcmode="lin" valueType="num">
                                      <p:cBhvr>
                                        <p:cTn id="112" dur="500" fill="hold"/>
                                        <p:tgtEl>
                                          <p:spTgt spid="74"/>
                                        </p:tgtEl>
                                        <p:attrNameLst>
                                          <p:attrName>ppt_h</p:attrName>
                                        </p:attrNameLst>
                                      </p:cBhvr>
                                      <p:tavLst>
                                        <p:tav tm="0">
                                          <p:val>
                                            <p:fltVal val="0"/>
                                          </p:val>
                                        </p:tav>
                                        <p:tav tm="100000">
                                          <p:val>
                                            <p:strVal val="#ppt_h"/>
                                          </p:val>
                                        </p:tav>
                                      </p:tavLst>
                                    </p:anim>
                                    <p:animEffect transition="in" filter="fade">
                                      <p:cBhvr>
                                        <p:cTn id="113" dur="500"/>
                                        <p:tgtEl>
                                          <p:spTgt spid="74"/>
                                        </p:tgtEl>
                                      </p:cBhvr>
                                    </p:animEffect>
                                  </p:childTnLst>
                                </p:cTn>
                              </p:par>
                              <p:par>
                                <p:cTn id="114" presetID="2" presetClass="entr" presetSubtype="1" fill="hold" nodeType="withEffect">
                                  <p:stCondLst>
                                    <p:cond delay="0"/>
                                  </p:stCondLst>
                                  <p:childTnLst>
                                    <p:set>
                                      <p:cBhvr>
                                        <p:cTn id="115" dur="1" fill="hold">
                                          <p:stCondLst>
                                            <p:cond delay="0"/>
                                          </p:stCondLst>
                                        </p:cTn>
                                        <p:tgtEl>
                                          <p:spTgt spid="67"/>
                                        </p:tgtEl>
                                        <p:attrNameLst>
                                          <p:attrName>style.visibility</p:attrName>
                                        </p:attrNameLst>
                                      </p:cBhvr>
                                      <p:to>
                                        <p:strVal val="visible"/>
                                      </p:to>
                                    </p:set>
                                    <p:anim calcmode="lin" valueType="num">
                                      <p:cBhvr additive="base">
                                        <p:cTn id="116" dur="500" fill="hold"/>
                                        <p:tgtEl>
                                          <p:spTgt spid="67"/>
                                        </p:tgtEl>
                                        <p:attrNameLst>
                                          <p:attrName>ppt_x</p:attrName>
                                        </p:attrNameLst>
                                      </p:cBhvr>
                                      <p:tavLst>
                                        <p:tav tm="0">
                                          <p:val>
                                            <p:strVal val="#ppt_x"/>
                                          </p:val>
                                        </p:tav>
                                        <p:tav tm="100000">
                                          <p:val>
                                            <p:strVal val="#ppt_x"/>
                                          </p:val>
                                        </p:tav>
                                      </p:tavLst>
                                    </p:anim>
                                    <p:anim calcmode="lin" valueType="num">
                                      <p:cBhvr additive="base">
                                        <p:cTn id="117" dur="500" fill="hold"/>
                                        <p:tgtEl>
                                          <p:spTgt spid="67"/>
                                        </p:tgtEl>
                                        <p:attrNameLst>
                                          <p:attrName>ppt_y</p:attrName>
                                        </p:attrNameLst>
                                      </p:cBhvr>
                                      <p:tavLst>
                                        <p:tav tm="0">
                                          <p:val>
                                            <p:strVal val="0-#ppt_h/2"/>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53" presetClass="entr" presetSubtype="16" fill="hold" grpId="0" nodeType="clickEffect">
                                  <p:stCondLst>
                                    <p:cond delay="0"/>
                                  </p:stCondLst>
                                  <p:childTnLst>
                                    <p:set>
                                      <p:cBhvr>
                                        <p:cTn id="121" dur="1" fill="hold">
                                          <p:stCondLst>
                                            <p:cond delay="0"/>
                                          </p:stCondLst>
                                        </p:cTn>
                                        <p:tgtEl>
                                          <p:spTgt spid="75"/>
                                        </p:tgtEl>
                                        <p:attrNameLst>
                                          <p:attrName>style.visibility</p:attrName>
                                        </p:attrNameLst>
                                      </p:cBhvr>
                                      <p:to>
                                        <p:strVal val="visible"/>
                                      </p:to>
                                    </p:set>
                                    <p:anim calcmode="lin" valueType="num">
                                      <p:cBhvr>
                                        <p:cTn id="122" dur="500" fill="hold"/>
                                        <p:tgtEl>
                                          <p:spTgt spid="75"/>
                                        </p:tgtEl>
                                        <p:attrNameLst>
                                          <p:attrName>ppt_w</p:attrName>
                                        </p:attrNameLst>
                                      </p:cBhvr>
                                      <p:tavLst>
                                        <p:tav tm="0">
                                          <p:val>
                                            <p:fltVal val="0"/>
                                          </p:val>
                                        </p:tav>
                                        <p:tav tm="100000">
                                          <p:val>
                                            <p:strVal val="#ppt_w"/>
                                          </p:val>
                                        </p:tav>
                                      </p:tavLst>
                                    </p:anim>
                                    <p:anim calcmode="lin" valueType="num">
                                      <p:cBhvr>
                                        <p:cTn id="123" dur="500" fill="hold"/>
                                        <p:tgtEl>
                                          <p:spTgt spid="75"/>
                                        </p:tgtEl>
                                        <p:attrNameLst>
                                          <p:attrName>ppt_h</p:attrName>
                                        </p:attrNameLst>
                                      </p:cBhvr>
                                      <p:tavLst>
                                        <p:tav tm="0">
                                          <p:val>
                                            <p:fltVal val="0"/>
                                          </p:val>
                                        </p:tav>
                                        <p:tav tm="100000">
                                          <p:val>
                                            <p:strVal val="#ppt_h"/>
                                          </p:val>
                                        </p:tav>
                                      </p:tavLst>
                                    </p:anim>
                                    <p:animEffect transition="in" filter="fade">
                                      <p:cBhvr>
                                        <p:cTn id="124" dur="500"/>
                                        <p:tgtEl>
                                          <p:spTgt spid="75"/>
                                        </p:tgtEl>
                                      </p:cBhvr>
                                    </p:animEffect>
                                  </p:childTnLst>
                                </p:cTn>
                              </p:par>
                              <p:par>
                                <p:cTn id="125" presetID="2" presetClass="entr" presetSubtype="6" fill="hold" nodeType="withEffect">
                                  <p:stCondLst>
                                    <p:cond delay="0"/>
                                  </p:stCondLst>
                                  <p:childTnLst>
                                    <p:set>
                                      <p:cBhvr>
                                        <p:cTn id="126" dur="1" fill="hold">
                                          <p:stCondLst>
                                            <p:cond delay="0"/>
                                          </p:stCondLst>
                                        </p:cTn>
                                        <p:tgtEl>
                                          <p:spTgt spid="76"/>
                                        </p:tgtEl>
                                        <p:attrNameLst>
                                          <p:attrName>style.visibility</p:attrName>
                                        </p:attrNameLst>
                                      </p:cBhvr>
                                      <p:to>
                                        <p:strVal val="visible"/>
                                      </p:to>
                                    </p:set>
                                    <p:anim calcmode="lin" valueType="num">
                                      <p:cBhvr additive="base">
                                        <p:cTn id="127" dur="500" fill="hold"/>
                                        <p:tgtEl>
                                          <p:spTgt spid="76"/>
                                        </p:tgtEl>
                                        <p:attrNameLst>
                                          <p:attrName>ppt_x</p:attrName>
                                        </p:attrNameLst>
                                      </p:cBhvr>
                                      <p:tavLst>
                                        <p:tav tm="0">
                                          <p:val>
                                            <p:strVal val="1+#ppt_w/2"/>
                                          </p:val>
                                        </p:tav>
                                        <p:tav tm="100000">
                                          <p:val>
                                            <p:strVal val="#ppt_x"/>
                                          </p:val>
                                        </p:tav>
                                      </p:tavLst>
                                    </p:anim>
                                    <p:anim calcmode="lin" valueType="num">
                                      <p:cBhvr additive="base">
                                        <p:cTn id="12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53" presetClass="entr" presetSubtype="16" fill="hold" grpId="0" nodeType="clickEffect">
                                  <p:stCondLst>
                                    <p:cond delay="0"/>
                                  </p:stCondLst>
                                  <p:childTnLst>
                                    <p:set>
                                      <p:cBhvr>
                                        <p:cTn id="132" dur="1" fill="hold">
                                          <p:stCondLst>
                                            <p:cond delay="0"/>
                                          </p:stCondLst>
                                        </p:cTn>
                                        <p:tgtEl>
                                          <p:spTgt spid="77"/>
                                        </p:tgtEl>
                                        <p:attrNameLst>
                                          <p:attrName>style.visibility</p:attrName>
                                        </p:attrNameLst>
                                      </p:cBhvr>
                                      <p:to>
                                        <p:strVal val="visible"/>
                                      </p:to>
                                    </p:set>
                                    <p:anim calcmode="lin" valueType="num">
                                      <p:cBhvr>
                                        <p:cTn id="133" dur="500" fill="hold"/>
                                        <p:tgtEl>
                                          <p:spTgt spid="77"/>
                                        </p:tgtEl>
                                        <p:attrNameLst>
                                          <p:attrName>ppt_w</p:attrName>
                                        </p:attrNameLst>
                                      </p:cBhvr>
                                      <p:tavLst>
                                        <p:tav tm="0">
                                          <p:val>
                                            <p:fltVal val="0"/>
                                          </p:val>
                                        </p:tav>
                                        <p:tav tm="100000">
                                          <p:val>
                                            <p:strVal val="#ppt_w"/>
                                          </p:val>
                                        </p:tav>
                                      </p:tavLst>
                                    </p:anim>
                                    <p:anim calcmode="lin" valueType="num">
                                      <p:cBhvr>
                                        <p:cTn id="134" dur="500" fill="hold"/>
                                        <p:tgtEl>
                                          <p:spTgt spid="77"/>
                                        </p:tgtEl>
                                        <p:attrNameLst>
                                          <p:attrName>ppt_h</p:attrName>
                                        </p:attrNameLst>
                                      </p:cBhvr>
                                      <p:tavLst>
                                        <p:tav tm="0">
                                          <p:val>
                                            <p:fltVal val="0"/>
                                          </p:val>
                                        </p:tav>
                                        <p:tav tm="100000">
                                          <p:val>
                                            <p:strVal val="#ppt_h"/>
                                          </p:val>
                                        </p:tav>
                                      </p:tavLst>
                                    </p:anim>
                                    <p:animEffect transition="in" filter="fade">
                                      <p:cBhvr>
                                        <p:cTn id="135" dur="500"/>
                                        <p:tgtEl>
                                          <p:spTgt spid="77"/>
                                        </p:tgtEl>
                                      </p:cBhvr>
                                    </p:animEffect>
                                  </p:childTnLst>
                                </p:cTn>
                              </p:par>
                              <p:par>
                                <p:cTn id="136" presetID="2" presetClass="entr" presetSubtype="12" fill="hold" nodeType="withEffect">
                                  <p:stCondLst>
                                    <p:cond delay="0"/>
                                  </p:stCondLst>
                                  <p:childTnLst>
                                    <p:set>
                                      <p:cBhvr>
                                        <p:cTn id="137" dur="1" fill="hold">
                                          <p:stCondLst>
                                            <p:cond delay="0"/>
                                          </p:stCondLst>
                                        </p:cTn>
                                        <p:tgtEl>
                                          <p:spTgt spid="78"/>
                                        </p:tgtEl>
                                        <p:attrNameLst>
                                          <p:attrName>style.visibility</p:attrName>
                                        </p:attrNameLst>
                                      </p:cBhvr>
                                      <p:to>
                                        <p:strVal val="visible"/>
                                      </p:to>
                                    </p:set>
                                    <p:anim calcmode="lin" valueType="num">
                                      <p:cBhvr additive="base">
                                        <p:cTn id="138" dur="500" fill="hold"/>
                                        <p:tgtEl>
                                          <p:spTgt spid="78"/>
                                        </p:tgtEl>
                                        <p:attrNameLst>
                                          <p:attrName>ppt_x</p:attrName>
                                        </p:attrNameLst>
                                      </p:cBhvr>
                                      <p:tavLst>
                                        <p:tav tm="0">
                                          <p:val>
                                            <p:strVal val="0-#ppt_w/2"/>
                                          </p:val>
                                        </p:tav>
                                        <p:tav tm="100000">
                                          <p:val>
                                            <p:strVal val="#ppt_x"/>
                                          </p:val>
                                        </p:tav>
                                      </p:tavLst>
                                    </p:anim>
                                    <p:anim calcmode="lin" valueType="num">
                                      <p:cBhvr additive="base">
                                        <p:cTn id="139"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P spid="72" grpId="0"/>
      <p:bldP spid="73" grpId="0"/>
      <p:bldP spid="74" grpId="0"/>
      <p:bldP spid="75" grpId="0"/>
      <p:bldP spid="77" grpId="0"/>
      <p:bldP spid="7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B6753-C2A1-26CF-C5F9-BB9A4DC60B30}"/>
              </a:ext>
            </a:extLst>
          </p:cNvPr>
          <p:cNvSpPr>
            <a:spLocks noGrp="1"/>
          </p:cNvSpPr>
          <p:nvPr>
            <p:ph sz="quarter" idx="10"/>
          </p:nvPr>
        </p:nvSpPr>
        <p:spPr/>
        <p:txBody>
          <a:bodyPr/>
          <a:lstStyle/>
          <a:p>
            <a:r>
              <a:rPr lang="en-IN" dirty="0"/>
              <a:t>Box-plot for the given data:</a:t>
            </a:r>
          </a:p>
        </p:txBody>
      </p:sp>
      <p:pic>
        <p:nvPicPr>
          <p:cNvPr id="1026" name="Picture 2" descr="Plot">
            <a:extLst>
              <a:ext uri="{FF2B5EF4-FFF2-40B4-BE49-F238E27FC236}">
                <a16:creationId xmlns:a16="http://schemas.microsoft.com/office/drawing/2014/main" id="{FECCB77D-7541-FA08-A2B0-83A77BAB48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30267" y="1658508"/>
            <a:ext cx="6466046" cy="32330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0B16F72-50BF-9568-55CA-FCA5C0B7FC34}"/>
              </a:ext>
            </a:extLst>
          </p:cNvPr>
          <p:cNvSpPr txBox="1"/>
          <p:nvPr/>
        </p:nvSpPr>
        <p:spPr>
          <a:xfrm>
            <a:off x="561975" y="1589038"/>
            <a:ext cx="6096000" cy="2308324"/>
          </a:xfrm>
          <a:prstGeom prst="rect">
            <a:avLst/>
          </a:prstGeom>
          <a:noFill/>
        </p:spPr>
        <p:txBody>
          <a:bodyPr wrap="square">
            <a:spAutoFit/>
          </a:bodyPr>
          <a:lstStyle/>
          <a:p>
            <a:r>
              <a:rPr lang="en-US" b="1" i="0" dirty="0">
                <a:solidFill>
                  <a:srgbClr val="000000"/>
                </a:solidFill>
                <a:effectLst/>
                <a:latin typeface="Verdana" panose="020B0604030504040204" pitchFamily="34" charset="0"/>
              </a:rPr>
              <a:t>Population size: 15</a:t>
            </a:r>
            <a:br>
              <a:rPr lang="en-US" dirty="0"/>
            </a:br>
            <a:r>
              <a:rPr lang="en-US" b="1" i="0" dirty="0">
                <a:solidFill>
                  <a:srgbClr val="000000"/>
                </a:solidFill>
                <a:effectLst/>
                <a:latin typeface="Verdana" panose="020B0604030504040204" pitchFamily="34" charset="0"/>
              </a:rPr>
              <a:t>Median: 144</a:t>
            </a:r>
            <a:br>
              <a:rPr lang="en-US" dirty="0"/>
            </a:br>
            <a:r>
              <a:rPr lang="en-US" b="1" i="0" dirty="0">
                <a:solidFill>
                  <a:srgbClr val="000000"/>
                </a:solidFill>
                <a:effectLst/>
                <a:latin typeface="Verdana" panose="020B0604030504040204" pitchFamily="34" charset="0"/>
              </a:rPr>
              <a:t>Minimum: 134</a:t>
            </a:r>
            <a:br>
              <a:rPr lang="en-US" dirty="0"/>
            </a:br>
            <a:r>
              <a:rPr lang="en-US" b="1" i="0" dirty="0">
                <a:solidFill>
                  <a:srgbClr val="000000"/>
                </a:solidFill>
                <a:effectLst/>
                <a:latin typeface="Verdana" panose="020B0604030504040204" pitchFamily="34" charset="0"/>
              </a:rPr>
              <a:t>Maximum: 153</a:t>
            </a:r>
            <a:br>
              <a:rPr lang="en-US" dirty="0"/>
            </a:br>
            <a:r>
              <a:rPr lang="en-US" b="1" i="0" dirty="0">
                <a:solidFill>
                  <a:srgbClr val="000000"/>
                </a:solidFill>
                <a:effectLst/>
                <a:latin typeface="Verdana" panose="020B0604030504040204" pitchFamily="34" charset="0"/>
              </a:rPr>
              <a:t>First quartile: 138</a:t>
            </a:r>
            <a:br>
              <a:rPr lang="en-US" dirty="0"/>
            </a:br>
            <a:r>
              <a:rPr lang="en-US" b="1" i="0" dirty="0">
                <a:solidFill>
                  <a:srgbClr val="000000"/>
                </a:solidFill>
                <a:effectLst/>
                <a:latin typeface="Verdana" panose="020B0604030504040204" pitchFamily="34" charset="0"/>
              </a:rPr>
              <a:t>Third quartile: 146</a:t>
            </a:r>
            <a:br>
              <a:rPr lang="en-US" dirty="0"/>
            </a:br>
            <a:r>
              <a:rPr lang="en-US" b="1" i="0" dirty="0">
                <a:solidFill>
                  <a:srgbClr val="000000"/>
                </a:solidFill>
                <a:effectLst/>
                <a:latin typeface="Verdana" panose="020B0604030504040204" pitchFamily="34" charset="0"/>
              </a:rPr>
              <a:t>Interquartile Range: 8</a:t>
            </a:r>
            <a:br>
              <a:rPr lang="en-US" dirty="0"/>
            </a:br>
            <a:r>
              <a:rPr lang="en-US" b="1" i="0" dirty="0">
                <a:solidFill>
                  <a:srgbClr val="000000"/>
                </a:solidFill>
                <a:effectLst/>
                <a:latin typeface="Verdana" panose="020B0604030504040204" pitchFamily="34" charset="0"/>
              </a:rPr>
              <a:t>Outliers: none</a:t>
            </a:r>
            <a:endParaRPr lang="en-US" dirty="0"/>
          </a:p>
        </p:txBody>
      </p:sp>
    </p:spTree>
    <p:extLst>
      <p:ext uri="{BB962C8B-B14F-4D97-AF65-F5344CB8AC3E}">
        <p14:creationId xmlns:p14="http://schemas.microsoft.com/office/powerpoint/2010/main" val="4011815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DC28B61-27DE-A0B6-BA90-78E16D0AF3A2}"/>
              </a:ext>
            </a:extLst>
          </p:cNvPr>
          <p:cNvPicPr>
            <a:picLocks noGrp="1" noChangeAspect="1"/>
          </p:cNvPicPr>
          <p:nvPr>
            <p:ph idx="1"/>
          </p:nvPr>
        </p:nvPicPr>
        <p:blipFill>
          <a:blip r:embed="rId2"/>
          <a:stretch>
            <a:fillRect/>
          </a:stretch>
        </p:blipFill>
        <p:spPr>
          <a:xfrm>
            <a:off x="1263848" y="1909247"/>
            <a:ext cx="7575352" cy="3663780"/>
          </a:xfrm>
        </p:spPr>
      </p:pic>
      <p:sp>
        <p:nvSpPr>
          <p:cNvPr id="3" name="Content Placeholder 2">
            <a:extLst>
              <a:ext uri="{FF2B5EF4-FFF2-40B4-BE49-F238E27FC236}">
                <a16:creationId xmlns:a16="http://schemas.microsoft.com/office/drawing/2014/main" id="{4D36917F-1AFE-90DD-D365-FB7612C53076}"/>
              </a:ext>
            </a:extLst>
          </p:cNvPr>
          <p:cNvSpPr>
            <a:spLocks noGrp="1"/>
          </p:cNvSpPr>
          <p:nvPr>
            <p:ph sz="quarter" idx="10"/>
          </p:nvPr>
        </p:nvSpPr>
        <p:spPr/>
        <p:txBody>
          <a:bodyPr/>
          <a:lstStyle/>
          <a:p>
            <a:r>
              <a:rPr lang="en-IN" dirty="0"/>
              <a:t>Real-time Example:</a:t>
            </a:r>
          </a:p>
        </p:txBody>
      </p:sp>
    </p:spTree>
    <p:extLst>
      <p:ext uri="{BB962C8B-B14F-4D97-AF65-F5344CB8AC3E}">
        <p14:creationId xmlns:p14="http://schemas.microsoft.com/office/powerpoint/2010/main" val="2999299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07C503-BA08-F7E2-95BB-BAB8FAD1D3A2}"/>
              </a:ext>
            </a:extLst>
          </p:cNvPr>
          <p:cNvSpPr>
            <a:spLocks noGrp="1"/>
          </p:cNvSpPr>
          <p:nvPr>
            <p:ph sz="quarter" idx="10"/>
          </p:nvPr>
        </p:nvSpPr>
        <p:spPr/>
        <p:txBody>
          <a:bodyPr/>
          <a:lstStyle/>
          <a:p>
            <a:r>
              <a:rPr lang="en-US" dirty="0"/>
              <a:t>Q1 , Median (Q2) and Q3 ( n is even)</a:t>
            </a:r>
          </a:p>
        </p:txBody>
      </p:sp>
      <p:pic>
        <p:nvPicPr>
          <p:cNvPr id="1026" name="Picture 2" descr="InterQuartile Range (IQR)">
            <a:extLst>
              <a:ext uri="{FF2B5EF4-FFF2-40B4-BE49-F238E27FC236}">
                <a16:creationId xmlns:a16="http://schemas.microsoft.com/office/drawing/2014/main" id="{DB986B2C-BB43-CC78-DF5E-0388A21A6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799" y="1643063"/>
            <a:ext cx="11315841" cy="3776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798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5F1E86-047F-8DA0-8030-270212889E5B}"/>
              </a:ext>
            </a:extLst>
          </p:cNvPr>
          <p:cNvSpPr>
            <a:spLocks noGrp="1"/>
          </p:cNvSpPr>
          <p:nvPr>
            <p:ph idx="1"/>
          </p:nvPr>
        </p:nvSpPr>
        <p:spPr/>
        <p:txBody>
          <a:bodyPr/>
          <a:lstStyle/>
          <a:p>
            <a:r>
              <a:rPr lang="en-IN" dirty="0"/>
              <a:t>Data: 5, 7, 8, 9, 10, 12, 13, 15, 18, 30</a:t>
            </a:r>
          </a:p>
          <a:p>
            <a:pPr>
              <a:buNone/>
            </a:pPr>
            <a:r>
              <a:rPr lang="en-US" b="1" dirty="0"/>
              <a:t>Five- point summary:</a:t>
            </a:r>
          </a:p>
          <a:p>
            <a:pPr>
              <a:buFont typeface="Arial" panose="020B0604020202020204" pitchFamily="34" charset="0"/>
              <a:buChar char="•"/>
            </a:pPr>
            <a:r>
              <a:rPr lang="en-US" b="1" dirty="0"/>
              <a:t>Q1</a:t>
            </a:r>
            <a:r>
              <a:rPr lang="en-US" dirty="0"/>
              <a:t> = 8</a:t>
            </a:r>
          </a:p>
          <a:p>
            <a:pPr>
              <a:buFont typeface="Arial" panose="020B0604020202020204" pitchFamily="34" charset="0"/>
              <a:buChar char="•"/>
            </a:pPr>
            <a:r>
              <a:rPr lang="en-US" b="1" dirty="0"/>
              <a:t>Q2 (Median)</a:t>
            </a:r>
            <a:r>
              <a:rPr lang="en-US" dirty="0"/>
              <a:t> = 11</a:t>
            </a:r>
          </a:p>
          <a:p>
            <a:pPr>
              <a:buFont typeface="Arial" panose="020B0604020202020204" pitchFamily="34" charset="0"/>
              <a:buChar char="•"/>
            </a:pPr>
            <a:r>
              <a:rPr lang="en-US" b="1" dirty="0"/>
              <a:t>Q3</a:t>
            </a:r>
            <a:r>
              <a:rPr lang="en-US" dirty="0"/>
              <a:t> = 15</a:t>
            </a:r>
          </a:p>
          <a:p>
            <a:pPr>
              <a:buFont typeface="Arial" panose="020B0604020202020204" pitchFamily="34" charset="0"/>
              <a:buChar char="•"/>
            </a:pPr>
            <a:r>
              <a:rPr lang="en-US" b="1" dirty="0"/>
              <a:t>IQR</a:t>
            </a:r>
            <a:r>
              <a:rPr lang="en-US" dirty="0"/>
              <a:t> = 15 - 8 = 7</a:t>
            </a:r>
          </a:p>
          <a:p>
            <a:pPr>
              <a:buFont typeface="Arial" panose="020B0604020202020204" pitchFamily="34" charset="0"/>
              <a:buChar char="•"/>
            </a:pPr>
            <a:r>
              <a:rPr lang="en-US" b="1" dirty="0"/>
              <a:t>Lower bound</a:t>
            </a:r>
            <a:r>
              <a:rPr lang="en-US" dirty="0"/>
              <a:t> = 8 - (1.5 × 7) = -2.5</a:t>
            </a:r>
          </a:p>
          <a:p>
            <a:pPr>
              <a:buFont typeface="Arial" panose="020B0604020202020204" pitchFamily="34" charset="0"/>
              <a:buChar char="•"/>
            </a:pPr>
            <a:r>
              <a:rPr lang="en-US" b="1" dirty="0"/>
              <a:t>Upper bound</a:t>
            </a:r>
            <a:r>
              <a:rPr lang="en-US" dirty="0"/>
              <a:t> = 15 + (1.5 × 7) = 25.5</a:t>
            </a:r>
          </a:p>
          <a:p>
            <a:r>
              <a:rPr lang="en-US" dirty="0"/>
              <a:t>✅ Any value </a:t>
            </a:r>
            <a:r>
              <a:rPr lang="en-US" b="1" dirty="0"/>
              <a:t>&gt; 25.5</a:t>
            </a:r>
            <a:r>
              <a:rPr lang="en-US" dirty="0"/>
              <a:t> or </a:t>
            </a:r>
            <a:r>
              <a:rPr lang="en-US" b="1" dirty="0"/>
              <a:t>&lt; -2.5</a:t>
            </a:r>
            <a:r>
              <a:rPr lang="en-US" dirty="0"/>
              <a:t> is an </a:t>
            </a:r>
            <a:r>
              <a:rPr lang="en-US" b="1" dirty="0"/>
              <a:t>outlier</a:t>
            </a:r>
            <a:r>
              <a:rPr lang="en-US" dirty="0"/>
              <a:t> → here, </a:t>
            </a:r>
            <a:r>
              <a:rPr lang="en-US" b="1" dirty="0"/>
              <a:t>30</a:t>
            </a:r>
            <a:r>
              <a:rPr lang="en-US" dirty="0"/>
              <a:t> is an outlier.</a:t>
            </a:r>
          </a:p>
          <a:p>
            <a:endParaRPr lang="en-IN" dirty="0"/>
          </a:p>
        </p:txBody>
      </p:sp>
      <p:sp>
        <p:nvSpPr>
          <p:cNvPr id="3" name="Content Placeholder 2">
            <a:extLst>
              <a:ext uri="{FF2B5EF4-FFF2-40B4-BE49-F238E27FC236}">
                <a16:creationId xmlns:a16="http://schemas.microsoft.com/office/drawing/2014/main" id="{BF7850F7-623D-7479-3B48-2DD185CEEC1E}"/>
              </a:ext>
            </a:extLst>
          </p:cNvPr>
          <p:cNvSpPr>
            <a:spLocks noGrp="1"/>
          </p:cNvSpPr>
          <p:nvPr>
            <p:ph sz="quarter" idx="10"/>
          </p:nvPr>
        </p:nvSpPr>
        <p:spPr/>
        <p:txBody>
          <a:bodyPr/>
          <a:lstStyle/>
          <a:p>
            <a:r>
              <a:rPr lang="en-IN" dirty="0"/>
              <a:t>Example:</a:t>
            </a:r>
          </a:p>
        </p:txBody>
      </p:sp>
    </p:spTree>
    <p:extLst>
      <p:ext uri="{BB962C8B-B14F-4D97-AF65-F5344CB8AC3E}">
        <p14:creationId xmlns:p14="http://schemas.microsoft.com/office/powerpoint/2010/main" val="2778388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80BC0-736D-AFE2-6AAF-E9422A219182}"/>
              </a:ext>
            </a:extLst>
          </p:cNvPr>
          <p:cNvSpPr txBox="1"/>
          <p:nvPr/>
        </p:nvSpPr>
        <p:spPr>
          <a:xfrm>
            <a:off x="0" y="565444"/>
            <a:ext cx="11868150" cy="4402231"/>
          </a:xfrm>
          <a:prstGeom prst="rect">
            <a:avLst/>
          </a:prstGeom>
          <a:noFill/>
        </p:spPr>
        <p:txBody>
          <a:bodyPr wrap="square">
            <a:spAutoFit/>
          </a:bodyPr>
          <a:lstStyle/>
          <a:p>
            <a:pPr marL="0" marR="0" algn="just">
              <a:spcBef>
                <a:spcPts val="0"/>
              </a:spcBef>
              <a:spcAft>
                <a:spcPts val="800"/>
              </a:spcAft>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2)Consider the following statistical summary of a dataset. Write at least three useful observations as a part of data pre – processing.		                   </a:t>
            </a:r>
            <a:r>
              <a:rPr lang="en-US"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r>
              <a:rPr lang="en-US" sz="24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Midsem</a:t>
            </a:r>
            <a:r>
              <a:rPr lang="en-US" sz="24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Sep’ 2023]</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Nr        Cells      </a:t>
            </a:r>
            <a:r>
              <a:rPr lang="en-IN" b="1"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QValue</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Fat     Protein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count</a:t>
            </a: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969.000000   969.000000  969.000000  969.000000  969.000000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mean </a:t>
            </a: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7.074303   358.284830   90.016584    3.620279    3.300196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std </a:t>
            </a: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4.759793   344.324223    4.998924    0.349956    0.136071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min</a:t>
            </a: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1.000000     0.000000   62.650000    2.240000    2.750000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25%</a:t>
            </a: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3.000000   157.000000   87.570000    3.410000    3.220000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50%</a:t>
            </a: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6.000000   283.000000   90.750000    3.610000    3.310000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75%</a:t>
            </a:r>
            <a:r>
              <a:rPr lang="en-IN"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10.000000   476.000000   93.400000    3.820000    3.380000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dirty="0">
                <a:solidFill>
                  <a:srgbClr val="000000"/>
                </a:solidFill>
                <a:effectLst/>
                <a:latin typeface="Courier New" panose="02070309020205020404" pitchFamily="49" charset="0"/>
                <a:ea typeface="Times New Roman" panose="02020603050405020304" pitchFamily="18" charset="0"/>
              </a:rPr>
              <a:t> </a:t>
            </a:r>
            <a:r>
              <a:rPr lang="en-IN" b="1" dirty="0">
                <a:solidFill>
                  <a:srgbClr val="000000"/>
                </a:solidFill>
                <a:effectLst/>
                <a:latin typeface="Courier New" panose="02070309020205020404" pitchFamily="49" charset="0"/>
                <a:ea typeface="Times New Roman" panose="02020603050405020304" pitchFamily="18" charset="0"/>
              </a:rPr>
              <a:t>max </a:t>
            </a:r>
            <a:r>
              <a:rPr lang="en-IN" dirty="0">
                <a:solidFill>
                  <a:srgbClr val="000000"/>
                </a:solidFill>
                <a:effectLst/>
                <a:latin typeface="Courier New" panose="02070309020205020404" pitchFamily="49" charset="0"/>
                <a:ea typeface="Times New Roman" panose="02020603050405020304" pitchFamily="18" charset="0"/>
              </a:rPr>
              <a:t>    20.000000  5226.000000  100.000000    5.420000    3.840000</a:t>
            </a:r>
            <a:endParaRPr lang="en-US" dirty="0"/>
          </a:p>
        </p:txBody>
      </p:sp>
    </p:spTree>
    <p:extLst>
      <p:ext uri="{BB962C8B-B14F-4D97-AF65-F5344CB8AC3E}">
        <p14:creationId xmlns:p14="http://schemas.microsoft.com/office/powerpoint/2010/main" val="3870136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9F2373-32AA-8D25-7F24-6E03628C7E59}"/>
              </a:ext>
            </a:extLst>
          </p:cNvPr>
          <p:cNvSpPr>
            <a:spLocks noGrp="1"/>
          </p:cNvSpPr>
          <p:nvPr>
            <p:ph sz="quarter" idx="10"/>
          </p:nvPr>
        </p:nvSpPr>
        <p:spPr/>
        <p:txBody>
          <a:bodyPr/>
          <a:lstStyle/>
          <a:p>
            <a:r>
              <a:rPr lang="en-US" dirty="0" err="1"/>
              <a:t>Contd</a:t>
            </a:r>
            <a:r>
              <a:rPr lang="en-US" dirty="0"/>
              <a:t>….</a:t>
            </a:r>
          </a:p>
        </p:txBody>
      </p:sp>
      <p:sp>
        <p:nvSpPr>
          <p:cNvPr id="5" name="TextBox 4">
            <a:extLst>
              <a:ext uri="{FF2B5EF4-FFF2-40B4-BE49-F238E27FC236}">
                <a16:creationId xmlns:a16="http://schemas.microsoft.com/office/drawing/2014/main" id="{58BFD291-0DEE-AA52-B557-62F6F5C212BD}"/>
              </a:ext>
            </a:extLst>
          </p:cNvPr>
          <p:cNvSpPr txBox="1"/>
          <p:nvPr/>
        </p:nvSpPr>
        <p:spPr>
          <a:xfrm>
            <a:off x="476249" y="1708023"/>
            <a:ext cx="11001375" cy="2590966"/>
          </a:xfrm>
          <a:prstGeom prst="rect">
            <a:avLst/>
          </a:prstGeom>
          <a:noFill/>
        </p:spPr>
        <p:txBody>
          <a:bodyPr wrap="square">
            <a:spAutoFit/>
          </a:bodyPr>
          <a:lstStyle/>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Observation 1: The variation in Protein is found very low when compared with   remaining using coefficient of variation = </a:t>
            </a:r>
            <a:r>
              <a:rPr lang="en-IN" sz="1800" dirty="0" err="1">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sd</a:t>
            </a: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/mean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fontAlgn="base" latinLnBrk="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Observation 2: The range in Protein is found very low when compared with       remaining using range = max-Min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000000"/>
                </a:solidFill>
                <a:effectLst/>
                <a:latin typeface="Courier New" panose="02070309020205020404" pitchFamily="49" charset="0"/>
                <a:ea typeface="Times New Roman" panose="02020603050405020304" pitchFamily="18" charset="0"/>
              </a:rPr>
              <a:t>Observation 3: The middle range in Protein is found very low when compared with remaining using quartile range = Q3(75%)-Q1(25%)</a:t>
            </a:r>
            <a:endParaRPr lang="en-IN" b="1" dirty="0">
              <a:solidFill>
                <a:srgbClr val="000000"/>
              </a:solidFill>
              <a:latin typeface="Courier New" panose="02070309020205020404" pitchFamily="49" charset="0"/>
              <a:ea typeface="Times New Roman" panose="02020603050405020304" pitchFamily="18" charset="0"/>
            </a:endParaRPr>
          </a:p>
          <a:p>
            <a:endParaRPr lang="en-IN" b="1" dirty="0">
              <a:solidFill>
                <a:srgbClr val="000000"/>
              </a:solidFill>
              <a:latin typeface="Courier New" panose="02070309020205020404" pitchFamily="49" charset="0"/>
            </a:endParaRPr>
          </a:p>
          <a:p>
            <a:r>
              <a:rPr lang="en-IN" b="1" dirty="0">
                <a:solidFill>
                  <a:srgbClr val="000000"/>
                </a:solidFill>
                <a:latin typeface="Courier New" panose="02070309020205020404" pitchFamily="49" charset="0"/>
              </a:rPr>
              <a:t>Etc…………</a:t>
            </a:r>
            <a:endParaRPr lang="en-US" dirty="0"/>
          </a:p>
        </p:txBody>
      </p:sp>
    </p:spTree>
    <p:extLst>
      <p:ext uri="{BB962C8B-B14F-4D97-AF65-F5344CB8AC3E}">
        <p14:creationId xmlns:p14="http://schemas.microsoft.com/office/powerpoint/2010/main" val="3312444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Basic Probability</a:t>
            </a:r>
          </a:p>
        </p:txBody>
      </p:sp>
      <p:graphicFrame>
        <p:nvGraphicFramePr>
          <p:cNvPr id="8" name="Object 7">
            <a:extLst>
              <a:ext uri="{FF2B5EF4-FFF2-40B4-BE49-F238E27FC236}">
                <a16:creationId xmlns:a16="http://schemas.microsoft.com/office/drawing/2014/main" id="{AFBDAEE6-0CE6-E0C4-7022-A11E2AB5F9A8}"/>
              </a:ext>
            </a:extLst>
          </p:cNvPr>
          <p:cNvGraphicFramePr>
            <a:graphicFrameLocks noChangeAspect="1"/>
          </p:cNvGraphicFramePr>
          <p:nvPr>
            <p:extLst>
              <p:ext uri="{D42A27DB-BD31-4B8C-83A1-F6EECF244321}">
                <p14:modId xmlns:p14="http://schemas.microsoft.com/office/powerpoint/2010/main" val="902831654"/>
              </p:ext>
            </p:extLst>
          </p:nvPr>
        </p:nvGraphicFramePr>
        <p:xfrm>
          <a:off x="381348" y="1398142"/>
          <a:ext cx="8421018" cy="1858617"/>
        </p:xfrm>
        <a:graphic>
          <a:graphicData uri="http://schemas.openxmlformats.org/presentationml/2006/ole">
            <mc:AlternateContent xmlns:mc="http://schemas.openxmlformats.org/markup-compatibility/2006">
              <mc:Choice xmlns:v="urn:schemas-microsoft-com:vml" Requires="v">
                <p:oleObj name="Bitmap Image" r:id="rId2" imgW="3070476" imgH="678239" progId="Paint.Picture">
                  <p:embed/>
                </p:oleObj>
              </mc:Choice>
              <mc:Fallback>
                <p:oleObj name="Bitmap Image" r:id="rId2" imgW="3070476" imgH="678239" progId="Paint.Picture">
                  <p:embed/>
                  <p:pic>
                    <p:nvPicPr>
                      <p:cNvPr id="8" name="Object 7">
                        <a:extLst>
                          <a:ext uri="{FF2B5EF4-FFF2-40B4-BE49-F238E27FC236}">
                            <a16:creationId xmlns:a16="http://schemas.microsoft.com/office/drawing/2014/main" id="{AFBDAEE6-0CE6-E0C4-7022-A11E2AB5F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348" y="1398142"/>
                        <a:ext cx="8421018" cy="1858617"/>
                      </a:xfrm>
                      <a:prstGeom prst="rect">
                        <a:avLst/>
                      </a:prstGeom>
                      <a:noFill/>
                    </p:spPr>
                  </p:pic>
                </p:oleObj>
              </mc:Fallback>
            </mc:AlternateContent>
          </a:graphicData>
        </a:graphic>
      </p:graphicFrame>
      <p:sp>
        <p:nvSpPr>
          <p:cNvPr id="2" name="TextBox 1">
            <a:extLst>
              <a:ext uri="{FF2B5EF4-FFF2-40B4-BE49-F238E27FC236}">
                <a16:creationId xmlns:a16="http://schemas.microsoft.com/office/drawing/2014/main" id="{DA22574B-F154-0B00-1608-6585C60A50B3}"/>
              </a:ext>
            </a:extLst>
          </p:cNvPr>
          <p:cNvSpPr txBox="1"/>
          <p:nvPr/>
        </p:nvSpPr>
        <p:spPr>
          <a:xfrm>
            <a:off x="163629" y="1387982"/>
            <a:ext cx="385011" cy="369332"/>
          </a:xfrm>
          <a:prstGeom prst="rect">
            <a:avLst/>
          </a:prstGeom>
          <a:noFill/>
        </p:spPr>
        <p:txBody>
          <a:bodyPr wrap="square" rtlCol="0">
            <a:spAutoFit/>
          </a:bodyPr>
          <a:lstStyle/>
          <a:p>
            <a:r>
              <a:rPr lang="en-IN" dirty="0"/>
              <a:t>3)</a:t>
            </a:r>
          </a:p>
        </p:txBody>
      </p:sp>
    </p:spTree>
    <p:extLst>
      <p:ext uri="{BB962C8B-B14F-4D97-AF65-F5344CB8AC3E}">
        <p14:creationId xmlns:p14="http://schemas.microsoft.com/office/powerpoint/2010/main" val="70410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F48CA9F-6AB7-2534-ED98-F6C0D7E53BD5}"/>
              </a:ext>
            </a:extLst>
          </p:cNvPr>
          <p:cNvPicPr>
            <a:picLocks noGrp="1" noChangeAspect="1"/>
          </p:cNvPicPr>
          <p:nvPr>
            <p:ph idx="1"/>
          </p:nvPr>
        </p:nvPicPr>
        <p:blipFill>
          <a:blip r:embed="rId2"/>
          <a:stretch>
            <a:fillRect/>
          </a:stretch>
        </p:blipFill>
        <p:spPr>
          <a:xfrm>
            <a:off x="490191" y="1568919"/>
            <a:ext cx="7335147" cy="4676836"/>
          </a:xfrm>
        </p:spPr>
      </p:pic>
      <p:sp>
        <p:nvSpPr>
          <p:cNvPr id="3" name="Content Placeholder 2">
            <a:extLst>
              <a:ext uri="{FF2B5EF4-FFF2-40B4-BE49-F238E27FC236}">
                <a16:creationId xmlns:a16="http://schemas.microsoft.com/office/drawing/2014/main" id="{C7A8320A-551A-07C3-EEB7-4C87C0684F8F}"/>
              </a:ext>
            </a:extLst>
          </p:cNvPr>
          <p:cNvSpPr>
            <a:spLocks noGrp="1"/>
          </p:cNvSpPr>
          <p:nvPr>
            <p:ph sz="quarter" idx="10"/>
          </p:nvPr>
        </p:nvSpPr>
        <p:spPr/>
        <p:txBody>
          <a:bodyPr/>
          <a:lstStyle/>
          <a:p>
            <a:endParaRPr lang="en-IN"/>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E00A87A4-3911-51EF-B029-9D1C6974E4FF}"/>
                  </a:ext>
                </a:extLst>
              </p14:cNvPr>
              <p14:cNvContentPartPr/>
              <p14:nvPr/>
            </p14:nvContentPartPr>
            <p14:xfrm>
              <a:off x="3464227" y="2225240"/>
              <a:ext cx="144720" cy="49680"/>
            </p14:xfrm>
          </p:contentPart>
        </mc:Choice>
        <mc:Fallback xmlns="">
          <p:pic>
            <p:nvPicPr>
              <p:cNvPr id="2" name="Ink 1">
                <a:extLst>
                  <a:ext uri="{FF2B5EF4-FFF2-40B4-BE49-F238E27FC236}">
                    <a16:creationId xmlns:a16="http://schemas.microsoft.com/office/drawing/2014/main" id="{E00A87A4-3911-51EF-B029-9D1C6974E4FF}"/>
                  </a:ext>
                </a:extLst>
              </p:cNvPr>
              <p:cNvPicPr/>
              <p:nvPr/>
            </p:nvPicPr>
            <p:blipFill>
              <a:blip r:embed="rId4"/>
              <a:stretch>
                <a:fillRect/>
              </a:stretch>
            </p:blipFill>
            <p:spPr>
              <a:xfrm>
                <a:off x="3449827" y="2210840"/>
                <a:ext cx="173160" cy="78120"/>
              </a:xfrm>
              <a:prstGeom prst="rect">
                <a:avLst/>
              </a:prstGeom>
            </p:spPr>
          </p:pic>
        </mc:Fallback>
      </mc:AlternateContent>
    </p:spTree>
    <p:extLst>
      <p:ext uri="{BB962C8B-B14F-4D97-AF65-F5344CB8AC3E}">
        <p14:creationId xmlns:p14="http://schemas.microsoft.com/office/powerpoint/2010/main" val="406037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E03AB3-9BB0-401D-D305-4156F055BA85}"/>
              </a:ext>
            </a:extLst>
          </p:cNvPr>
          <p:cNvSpPr txBox="1"/>
          <p:nvPr/>
        </p:nvSpPr>
        <p:spPr>
          <a:xfrm>
            <a:off x="209549" y="1409611"/>
            <a:ext cx="11515725" cy="1294393"/>
          </a:xfrm>
          <a:prstGeom prst="rect">
            <a:avLst/>
          </a:prstGeom>
          <a:noFill/>
        </p:spPr>
        <p:txBody>
          <a:bodyPr wrap="square">
            <a:spAutoFit/>
          </a:bodyPr>
          <a:lstStyle/>
          <a:p>
            <a:pPr algn="just">
              <a:lnSpc>
                <a:spcPct val="150000"/>
              </a:lnSpc>
            </a:pPr>
            <a:r>
              <a:rPr lang="en-IN" sz="1800" dirty="0">
                <a:solidFill>
                  <a:srgbClr val="000000"/>
                </a:solidFill>
                <a:effectLst/>
                <a:latin typeface="Times New Roman" panose="02020603050405020304" pitchFamily="18" charset="0"/>
                <a:ea typeface="Calibri" panose="020F0502020204030204" pitchFamily="34" charset="0"/>
              </a:rPr>
              <a:t>4) There is a 1% probability for  a hard drive to crash. Therefore</a:t>
            </a:r>
            <a:r>
              <a:rPr lang="en-IN" dirty="0">
                <a:solidFill>
                  <a:srgbClr val="000000"/>
                </a:solidFill>
                <a:latin typeface="Times New Roman" panose="02020603050405020304" pitchFamily="18" charset="0"/>
                <a:ea typeface="Calibri" panose="020F0502020204030204" pitchFamily="34" charset="0"/>
              </a:rPr>
              <a:t>, it has two backups, each having a 2 % probability to crash, and all three components are independent of each other. The stored information is lost only in an unfortunate situation when all three devices crash. What is the probability that the information is saved?</a:t>
            </a:r>
            <a:endParaRPr lang="en-US" dirty="0"/>
          </a:p>
        </p:txBody>
      </p:sp>
      <p:sp>
        <p:nvSpPr>
          <p:cNvPr id="4" name="TextBox 3">
            <a:extLst>
              <a:ext uri="{FF2B5EF4-FFF2-40B4-BE49-F238E27FC236}">
                <a16:creationId xmlns:a16="http://schemas.microsoft.com/office/drawing/2014/main" id="{0AD43E8B-FBB8-71AC-C7C1-E135D99759E9}"/>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Basic Probability</a:t>
            </a:r>
          </a:p>
        </p:txBody>
      </p:sp>
      <p:pic>
        <p:nvPicPr>
          <p:cNvPr id="5" name="Picture 4">
            <a:extLst>
              <a:ext uri="{FF2B5EF4-FFF2-40B4-BE49-F238E27FC236}">
                <a16:creationId xmlns:a16="http://schemas.microsoft.com/office/drawing/2014/main" id="{378C54CC-4E0D-F781-0C28-5B8DDD2049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5440" y="2719906"/>
            <a:ext cx="8381999" cy="3625874"/>
          </a:xfrm>
          <a:prstGeom prst="rect">
            <a:avLst/>
          </a:prstGeom>
        </p:spPr>
      </p:pic>
    </p:spTree>
    <p:extLst>
      <p:ext uri="{BB962C8B-B14F-4D97-AF65-F5344CB8AC3E}">
        <p14:creationId xmlns:p14="http://schemas.microsoft.com/office/powerpoint/2010/main" val="2628043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Basic Probability</a:t>
            </a:r>
          </a:p>
        </p:txBody>
      </p:sp>
      <p:sp>
        <p:nvSpPr>
          <p:cNvPr id="3" name="TextBox 2">
            <a:extLst>
              <a:ext uri="{FF2B5EF4-FFF2-40B4-BE49-F238E27FC236}">
                <a16:creationId xmlns:a16="http://schemas.microsoft.com/office/drawing/2014/main" id="{5F2A2F7D-6D7D-6392-C417-EED235126F39}"/>
              </a:ext>
            </a:extLst>
          </p:cNvPr>
          <p:cNvSpPr txBox="1"/>
          <p:nvPr/>
        </p:nvSpPr>
        <p:spPr>
          <a:xfrm>
            <a:off x="423851" y="1332175"/>
            <a:ext cx="9759677" cy="1711366"/>
          </a:xfrm>
          <a:prstGeom prst="rect">
            <a:avLst/>
          </a:prstGeom>
          <a:noFill/>
        </p:spPr>
        <p:txBody>
          <a:bodyPr wrap="square">
            <a:spAutoFit/>
          </a:bodyPr>
          <a:lstStyle/>
          <a:p>
            <a:pPr algn="just">
              <a:lnSpc>
                <a:spcPct val="150000"/>
              </a:lnSpc>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 political leader has submitted his nomination to compete in two different electoral constituencies namely A1 and A2. The probability of wining in constituency A1 and A2 is 0.8</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0</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0.6</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5</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respectively. The probability of losing at least one of the constituencies is 0.3</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5</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What will be the probability that he will win in exactly one of the constituencies?</a:t>
            </a:r>
            <a:endParaRPr 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EF1628B-68D9-D900-2CD2-76471DCFF3F4}"/>
              </a:ext>
            </a:extLst>
          </p:cNvPr>
          <p:cNvSpPr txBox="1"/>
          <p:nvPr/>
        </p:nvSpPr>
        <p:spPr>
          <a:xfrm>
            <a:off x="163629" y="1387982"/>
            <a:ext cx="385011"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5)</a:t>
            </a:r>
          </a:p>
        </p:txBody>
      </p:sp>
      <p:pic>
        <p:nvPicPr>
          <p:cNvPr id="6" name="Picture 5">
            <a:extLst>
              <a:ext uri="{FF2B5EF4-FFF2-40B4-BE49-F238E27FC236}">
                <a16:creationId xmlns:a16="http://schemas.microsoft.com/office/drawing/2014/main" id="{2F10901C-4AC2-D4D7-2A85-462D1ABF39BA}"/>
              </a:ext>
            </a:extLst>
          </p:cNvPr>
          <p:cNvPicPr>
            <a:picLocks noChangeAspect="1"/>
          </p:cNvPicPr>
          <p:nvPr/>
        </p:nvPicPr>
        <p:blipFill>
          <a:blip r:embed="rId2"/>
          <a:stretch>
            <a:fillRect/>
          </a:stretch>
        </p:blipFill>
        <p:spPr>
          <a:xfrm>
            <a:off x="1309262" y="3814459"/>
            <a:ext cx="8981662" cy="1951073"/>
          </a:xfrm>
          <a:prstGeom prst="rect">
            <a:avLst/>
          </a:prstGeom>
        </p:spPr>
      </p:pic>
    </p:spTree>
    <p:extLst>
      <p:ext uri="{BB962C8B-B14F-4D97-AF65-F5344CB8AC3E}">
        <p14:creationId xmlns:p14="http://schemas.microsoft.com/office/powerpoint/2010/main" val="3242378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Solution:</a:t>
            </a:r>
          </a:p>
        </p:txBody>
      </p:sp>
      <p:sp>
        <p:nvSpPr>
          <p:cNvPr id="3" name="TextBox 2">
            <a:extLst>
              <a:ext uri="{FF2B5EF4-FFF2-40B4-BE49-F238E27FC236}">
                <a16:creationId xmlns:a16="http://schemas.microsoft.com/office/drawing/2014/main" id="{5F2A2F7D-6D7D-6392-C417-EED235126F39}"/>
              </a:ext>
            </a:extLst>
          </p:cNvPr>
          <p:cNvSpPr txBox="1"/>
          <p:nvPr/>
        </p:nvSpPr>
        <p:spPr>
          <a:xfrm>
            <a:off x="86967" y="1369080"/>
            <a:ext cx="11839989" cy="1295868"/>
          </a:xfrm>
          <a:prstGeom prst="rect">
            <a:avLst/>
          </a:prstGeom>
          <a:noFill/>
        </p:spPr>
        <p:txBody>
          <a:bodyPr wrap="square">
            <a:spAutoFit/>
          </a:bodyPr>
          <a:lstStyle/>
          <a:p>
            <a:pPr algn="just">
              <a:lnSpc>
                <a:spcPct val="150000"/>
              </a:lnSpc>
            </a:pPr>
            <a:r>
              <a:rPr lang="en-IN" sz="1800" dirty="0">
                <a:effectLst/>
                <a:latin typeface="Calibri" panose="020F0502020204030204" pitchFamily="34" charset="0"/>
                <a:ea typeface="Calibri" panose="020F0502020204030204" pitchFamily="34" charset="0"/>
              </a:rPr>
              <a:t>A political leader has submitted his nomination to compete in two different electoral constituencies namely A1 and A2. The probability of wining in constituency A1 and A2 is 0.8</a:t>
            </a:r>
            <a:r>
              <a:rPr lang="en-US" sz="1800" dirty="0">
                <a:effectLst/>
                <a:latin typeface="Calibri" panose="020F0502020204030204" pitchFamily="34" charset="0"/>
                <a:ea typeface="Calibri" panose="020F0502020204030204" pitchFamily="34" charset="0"/>
              </a:rPr>
              <a:t>0</a:t>
            </a:r>
            <a:r>
              <a:rPr lang="en-IN" sz="1800" dirty="0">
                <a:effectLst/>
                <a:latin typeface="Calibri" panose="020F0502020204030204" pitchFamily="34" charset="0"/>
                <a:ea typeface="Calibri" panose="020F0502020204030204" pitchFamily="34" charset="0"/>
              </a:rPr>
              <a:t> and 0.6</a:t>
            </a:r>
            <a:r>
              <a:rPr lang="en-US" sz="1800" dirty="0">
                <a:effectLst/>
                <a:latin typeface="Calibri" panose="020F0502020204030204" pitchFamily="34" charset="0"/>
                <a:ea typeface="Calibri" panose="020F0502020204030204" pitchFamily="34" charset="0"/>
              </a:rPr>
              <a:t>5</a:t>
            </a:r>
            <a:r>
              <a:rPr lang="en-IN" sz="1800" dirty="0">
                <a:effectLst/>
                <a:latin typeface="Calibri" panose="020F0502020204030204" pitchFamily="34" charset="0"/>
                <a:ea typeface="Calibri" panose="020F0502020204030204" pitchFamily="34" charset="0"/>
              </a:rPr>
              <a:t> respectively. The probability of losing at least one of the constituencies is 0.3</a:t>
            </a:r>
            <a:r>
              <a:rPr lang="en-US" sz="1800" dirty="0">
                <a:effectLst/>
                <a:latin typeface="Calibri" panose="020F0502020204030204" pitchFamily="34" charset="0"/>
                <a:ea typeface="Calibri" panose="020F0502020204030204" pitchFamily="34" charset="0"/>
              </a:rPr>
              <a:t>5</a:t>
            </a:r>
            <a:r>
              <a:rPr lang="en-IN" sz="1800" dirty="0">
                <a:effectLst/>
                <a:latin typeface="Calibri" panose="020F0502020204030204" pitchFamily="34" charset="0"/>
                <a:ea typeface="Calibri" panose="020F0502020204030204" pitchFamily="34" charset="0"/>
              </a:rPr>
              <a:t>. What will be the probability that he will win in one of the constituencies?</a:t>
            </a:r>
            <a:endParaRPr lang="en-US" dirty="0"/>
          </a:p>
        </p:txBody>
      </p:sp>
      <p:pic>
        <p:nvPicPr>
          <p:cNvPr id="102" name="Picture 101">
            <a:extLst>
              <a:ext uri="{FF2B5EF4-FFF2-40B4-BE49-F238E27FC236}">
                <a16:creationId xmlns:a16="http://schemas.microsoft.com/office/drawing/2014/main" id="{15444E89-B4D1-BDC4-2648-2E31AC8DD2EC}"/>
              </a:ext>
            </a:extLst>
          </p:cNvPr>
          <p:cNvPicPr>
            <a:picLocks noChangeAspect="1"/>
          </p:cNvPicPr>
          <p:nvPr/>
        </p:nvPicPr>
        <p:blipFill>
          <a:blip r:embed="rId2"/>
          <a:stretch>
            <a:fillRect/>
          </a:stretch>
        </p:blipFill>
        <p:spPr>
          <a:xfrm>
            <a:off x="336274" y="2742280"/>
            <a:ext cx="11201400" cy="3857625"/>
          </a:xfrm>
          <a:prstGeom prst="rect">
            <a:avLst/>
          </a:prstGeom>
        </p:spPr>
      </p:pic>
    </p:spTree>
    <p:extLst>
      <p:ext uri="{BB962C8B-B14F-4D97-AF65-F5344CB8AC3E}">
        <p14:creationId xmlns:p14="http://schemas.microsoft.com/office/powerpoint/2010/main" val="30539311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FC412-798F-7CAD-9513-C44B67174D6C}"/>
              </a:ext>
            </a:extLst>
          </p:cNvPr>
          <p:cNvSpPr>
            <a:spLocks noGrp="1"/>
          </p:cNvSpPr>
          <p:nvPr>
            <p:ph sz="quarter" idx="10"/>
          </p:nvPr>
        </p:nvSpPr>
        <p:spPr/>
        <p:txBody>
          <a:bodyPr/>
          <a:lstStyle/>
          <a:p>
            <a:endParaRPr lang="en-IN" dirty="0"/>
          </a:p>
        </p:txBody>
      </p:sp>
      <p:pic>
        <p:nvPicPr>
          <p:cNvPr id="4" name="Picture 2">
            <a:extLst>
              <a:ext uri="{FF2B5EF4-FFF2-40B4-BE49-F238E27FC236}">
                <a16:creationId xmlns:a16="http://schemas.microsoft.com/office/drawing/2014/main" id="{4592BD5B-C130-E1EC-3C2B-FD9051D467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0089" y="2087621"/>
            <a:ext cx="4739537" cy="268275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D0E82EAD-1D47-BBA6-2674-AC277C80B1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0408" y="1754706"/>
            <a:ext cx="6719681" cy="3779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628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Independent events</a:t>
            </a:r>
          </a:p>
        </p:txBody>
      </p:sp>
      <p:sp>
        <p:nvSpPr>
          <p:cNvPr id="5" name="TextBox 4">
            <a:extLst>
              <a:ext uri="{FF2B5EF4-FFF2-40B4-BE49-F238E27FC236}">
                <a16:creationId xmlns:a16="http://schemas.microsoft.com/office/drawing/2014/main" id="{2A637456-BF17-4143-B885-B93620FB5A4B}"/>
              </a:ext>
            </a:extLst>
          </p:cNvPr>
          <p:cNvSpPr txBox="1"/>
          <p:nvPr/>
        </p:nvSpPr>
        <p:spPr>
          <a:xfrm>
            <a:off x="230980" y="1291748"/>
            <a:ext cx="11199019" cy="964367"/>
          </a:xfrm>
          <a:prstGeom prst="rect">
            <a:avLst/>
          </a:prstGeom>
          <a:noFill/>
        </p:spPr>
        <p:txBody>
          <a:bodyPr wrap="square">
            <a:spAutoFit/>
          </a:bodyPr>
          <a:lstStyle/>
          <a:p>
            <a:pPr marL="0" marR="0" algn="just">
              <a:lnSpc>
                <a:spcPct val="150000"/>
              </a:lnSpc>
              <a:spcBef>
                <a:spcPts val="0"/>
              </a:spcBef>
              <a:spcAft>
                <a:spcPts val="800"/>
              </a:spcAf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6</a:t>
            </a: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Comment on the statement: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“If two events are mutually exclusive, then they are independent also and vice versa”</a:t>
            </a:r>
            <a:endParaRPr lang="en-US" sz="2000" dirty="0">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8C0FF5F3-49DB-766E-4E62-52C178281C0F}"/>
              </a:ext>
            </a:extLst>
          </p:cNvPr>
          <p:cNvSpPr txBox="1"/>
          <p:nvPr/>
        </p:nvSpPr>
        <p:spPr>
          <a:xfrm>
            <a:off x="5324505" y="2546877"/>
            <a:ext cx="6157912" cy="646331"/>
          </a:xfrm>
          <a:prstGeom prst="rect">
            <a:avLst/>
          </a:prstGeom>
          <a:noFill/>
        </p:spPr>
        <p:txBody>
          <a:bodyPr wrap="square">
            <a:spAutoFit/>
          </a:bodyPr>
          <a:lstStyle/>
          <a:p>
            <a:pPr algn="just"/>
            <a:endParaRPr lang="en-US" dirty="0">
              <a:solidFill>
                <a:srgbClr val="FF0000"/>
              </a:solidFill>
            </a:endParaRPr>
          </a:p>
          <a:p>
            <a:pPr algn="just"/>
            <a:endParaRPr lang="en-US" dirty="0">
              <a:solidFill>
                <a:srgbClr val="FF0000"/>
              </a:solidFill>
            </a:endParaRPr>
          </a:p>
        </p:txBody>
      </p:sp>
    </p:spTree>
    <p:extLst>
      <p:ext uri="{BB962C8B-B14F-4D97-AF65-F5344CB8AC3E}">
        <p14:creationId xmlns:p14="http://schemas.microsoft.com/office/powerpoint/2010/main" val="3383935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Independent events</a:t>
            </a:r>
          </a:p>
        </p:txBody>
      </p:sp>
      <p:sp>
        <p:nvSpPr>
          <p:cNvPr id="5" name="TextBox 4">
            <a:extLst>
              <a:ext uri="{FF2B5EF4-FFF2-40B4-BE49-F238E27FC236}">
                <a16:creationId xmlns:a16="http://schemas.microsoft.com/office/drawing/2014/main" id="{EF09DA33-D7E5-91B6-77BC-2201A5D7E793}"/>
              </a:ext>
            </a:extLst>
          </p:cNvPr>
          <p:cNvSpPr txBox="1"/>
          <p:nvPr/>
        </p:nvSpPr>
        <p:spPr>
          <a:xfrm>
            <a:off x="156542" y="1441405"/>
            <a:ext cx="11268645" cy="1211614"/>
          </a:xfrm>
          <a:prstGeom prst="rect">
            <a:avLst/>
          </a:prstGeom>
          <a:noFill/>
        </p:spPr>
        <p:txBody>
          <a:bodyPr wrap="square">
            <a:spAutoFit/>
          </a:bodyPr>
          <a:lstStyle/>
          <a:p>
            <a:pPr marL="0" marR="0" algn="just">
              <a:lnSpc>
                <a:spcPct val="115000"/>
              </a:lnSpc>
              <a:spcBef>
                <a:spcPts val="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7</a:t>
            </a:r>
            <a:r>
              <a:rPr lang="en-IN" dirty="0">
                <a:effectLst/>
                <a:latin typeface="Times New Roman" panose="02020603050405020304" pitchFamily="18" charset="0"/>
                <a:ea typeface="Calibri" panose="020F0502020204030204" pitchFamily="34" charset="0"/>
                <a:cs typeface="Times New Roman" panose="02020603050405020304" pitchFamily="18" charset="0"/>
              </a:rPr>
              <a:t>) Let A and B be the two possible outcomes of an experiment and suppose P(A) = 0.4, P(B) = p and P(AUB) = 0.7</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800"/>
              </a:spcAft>
            </a:pPr>
            <a:r>
              <a:rPr lang="en-IN" dirty="0">
                <a:effectLst/>
                <a:latin typeface="Times New Roman" panose="02020603050405020304" pitchFamily="18" charset="0"/>
                <a:ea typeface="Calibri" panose="020F0502020204030204" pitchFamily="34" charset="0"/>
                <a:cs typeface="Times New Roman" panose="02020603050405020304" pitchFamily="18" charset="0"/>
              </a:rPr>
              <a:t>   (</a:t>
            </a:r>
            <a:r>
              <a:rPr lang="en-IN"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dirty="0">
                <a:effectLst/>
                <a:latin typeface="Times New Roman" panose="02020603050405020304" pitchFamily="18" charset="0"/>
                <a:ea typeface="Calibri" panose="020F0502020204030204" pitchFamily="34" charset="0"/>
                <a:cs typeface="Times New Roman" panose="02020603050405020304" pitchFamily="18" charset="0"/>
              </a:rPr>
              <a:t>) For what choice of ‘p’ are A and B mutually exclusive?</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dirty="0">
                <a:effectLst/>
                <a:latin typeface="Times New Roman" panose="02020603050405020304" pitchFamily="18" charset="0"/>
                <a:ea typeface="Calibri" panose="020F0502020204030204" pitchFamily="34" charset="0"/>
                <a:cs typeface="Times New Roman" panose="02020603050405020304" pitchFamily="18" charset="0"/>
              </a:rPr>
              <a:t>   (ii) For what choice of ‘p’ are A and B independent?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720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Solution:</a:t>
            </a:r>
          </a:p>
        </p:txBody>
      </p:sp>
      <p:pic>
        <p:nvPicPr>
          <p:cNvPr id="7" name="Picture 6">
            <a:extLst>
              <a:ext uri="{FF2B5EF4-FFF2-40B4-BE49-F238E27FC236}">
                <a16:creationId xmlns:a16="http://schemas.microsoft.com/office/drawing/2014/main" id="{7439AE5F-82C9-8C3D-97F6-1EB877E60714}"/>
              </a:ext>
            </a:extLst>
          </p:cNvPr>
          <p:cNvPicPr>
            <a:picLocks noChangeAspect="1"/>
          </p:cNvPicPr>
          <p:nvPr/>
        </p:nvPicPr>
        <p:blipFill>
          <a:blip r:embed="rId2"/>
          <a:stretch>
            <a:fillRect/>
          </a:stretch>
        </p:blipFill>
        <p:spPr>
          <a:xfrm>
            <a:off x="5248976" y="1537304"/>
            <a:ext cx="6029599" cy="4470430"/>
          </a:xfrm>
          <a:prstGeom prst="rect">
            <a:avLst/>
          </a:prstGeom>
        </p:spPr>
      </p:pic>
    </p:spTree>
    <p:extLst>
      <p:ext uri="{BB962C8B-B14F-4D97-AF65-F5344CB8AC3E}">
        <p14:creationId xmlns:p14="http://schemas.microsoft.com/office/powerpoint/2010/main" val="1308313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2201744-E7A4-533D-06B7-E54BDDD351F5}"/>
              </a:ext>
            </a:extLst>
          </p:cNvPr>
          <p:cNvSpPr>
            <a:spLocks noGrp="1"/>
          </p:cNvSpPr>
          <p:nvPr>
            <p:ph idx="1"/>
          </p:nvPr>
        </p:nvSpPr>
        <p:spPr/>
        <p:txBody>
          <a:bodyPr/>
          <a:lstStyle/>
          <a:p>
            <a:pPr algn="l"/>
            <a:r>
              <a:rPr lang="en-IN" sz="1800" dirty="0"/>
              <a:t>8.</a:t>
            </a:r>
            <a:r>
              <a:rPr lang="en-IN" dirty="0"/>
              <a:t> </a:t>
            </a:r>
            <a:r>
              <a:rPr lang="en-US" sz="1800" b="0" i="0" u="none" strike="noStrike" baseline="0" dirty="0">
                <a:solidFill>
                  <a:srgbClr val="000000"/>
                </a:solidFill>
                <a:latin typeface="Calibri" panose="020F0502020204030204" pitchFamily="34" charset="0"/>
              </a:rPr>
              <a:t>Ninety percent of flights depart on time. Eighty percent of flights arrive on time. Seventy-five percent of flights depart on time and arrive on time. </a:t>
            </a:r>
          </a:p>
          <a:p>
            <a:r>
              <a:rPr lang="en-US" sz="1800" b="0" i="0" u="none" strike="noStrike" baseline="0" dirty="0">
                <a:solidFill>
                  <a:srgbClr val="000000"/>
                </a:solidFill>
                <a:latin typeface="Calibri" panose="020F0502020204030204" pitchFamily="34" charset="0"/>
              </a:rPr>
              <a:t>a) You are meeting a flight that departed on time. What is the probability that it will arrive on time? </a:t>
            </a:r>
          </a:p>
          <a:p>
            <a:r>
              <a:rPr lang="en-US" sz="1800" b="0" i="0" u="none" strike="noStrike" baseline="0" dirty="0">
                <a:solidFill>
                  <a:srgbClr val="000000"/>
                </a:solidFill>
                <a:latin typeface="Calibri" panose="020F0502020204030204" pitchFamily="34" charset="0"/>
              </a:rPr>
              <a:t>b) You have met a flight, and it arrived on time. What is the probability that it departed on time? </a:t>
            </a:r>
          </a:p>
          <a:p>
            <a:r>
              <a:rPr lang="en-US" sz="1800" b="0" i="0" u="none" strike="noStrike" baseline="0" dirty="0">
                <a:solidFill>
                  <a:srgbClr val="000000"/>
                </a:solidFill>
                <a:latin typeface="Calibri" panose="020F0502020204030204" pitchFamily="34" charset="0"/>
              </a:rPr>
              <a:t>c) Are the events, departing on time and arriving on time, independent? </a:t>
            </a:r>
          </a:p>
          <a:p>
            <a:endParaRPr lang="en-IN" dirty="0"/>
          </a:p>
        </p:txBody>
      </p:sp>
      <p:pic>
        <p:nvPicPr>
          <p:cNvPr id="7" name="Picture 6">
            <a:extLst>
              <a:ext uri="{FF2B5EF4-FFF2-40B4-BE49-F238E27FC236}">
                <a16:creationId xmlns:a16="http://schemas.microsoft.com/office/drawing/2014/main" id="{03BD34A4-FAEB-D833-7EE0-A7E8800344FC}"/>
              </a:ext>
            </a:extLst>
          </p:cNvPr>
          <p:cNvPicPr>
            <a:picLocks noChangeAspect="1"/>
          </p:cNvPicPr>
          <p:nvPr/>
        </p:nvPicPr>
        <p:blipFill>
          <a:blip r:embed="rId2"/>
          <a:stretch>
            <a:fillRect/>
          </a:stretch>
        </p:blipFill>
        <p:spPr>
          <a:xfrm>
            <a:off x="726952" y="3498290"/>
            <a:ext cx="3748795" cy="1673374"/>
          </a:xfrm>
          <a:prstGeom prst="rect">
            <a:avLst/>
          </a:prstGeom>
        </p:spPr>
      </p:pic>
      <p:pic>
        <p:nvPicPr>
          <p:cNvPr id="9" name="Picture 8">
            <a:extLst>
              <a:ext uri="{FF2B5EF4-FFF2-40B4-BE49-F238E27FC236}">
                <a16:creationId xmlns:a16="http://schemas.microsoft.com/office/drawing/2014/main" id="{D11CB509-68F4-A531-B152-9957488108DC}"/>
              </a:ext>
            </a:extLst>
          </p:cNvPr>
          <p:cNvPicPr>
            <a:picLocks noChangeAspect="1"/>
          </p:cNvPicPr>
          <p:nvPr/>
        </p:nvPicPr>
        <p:blipFill>
          <a:blip r:embed="rId3"/>
          <a:stretch>
            <a:fillRect/>
          </a:stretch>
        </p:blipFill>
        <p:spPr>
          <a:xfrm>
            <a:off x="6220383" y="3935100"/>
            <a:ext cx="2346101" cy="1476199"/>
          </a:xfrm>
          <a:prstGeom prst="rect">
            <a:avLst/>
          </a:prstGeom>
        </p:spPr>
      </p:pic>
      <p:sp>
        <p:nvSpPr>
          <p:cNvPr id="2" name="TextBox 1">
            <a:extLst>
              <a:ext uri="{FF2B5EF4-FFF2-40B4-BE49-F238E27FC236}">
                <a16:creationId xmlns:a16="http://schemas.microsoft.com/office/drawing/2014/main" id="{8C1130D3-715B-7939-9BE7-7ED8A2353E7C}"/>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Conditional Probability</a:t>
            </a:r>
          </a:p>
        </p:txBody>
      </p:sp>
    </p:spTree>
    <p:extLst>
      <p:ext uri="{BB962C8B-B14F-4D97-AF65-F5344CB8AC3E}">
        <p14:creationId xmlns:p14="http://schemas.microsoft.com/office/powerpoint/2010/main" val="33059148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C3D41C-4B21-2F97-5F24-E3410705458A}"/>
              </a:ext>
            </a:extLst>
          </p:cNvPr>
          <p:cNvSpPr>
            <a:spLocks noGrp="1"/>
          </p:cNvSpPr>
          <p:nvPr>
            <p:ph idx="1"/>
          </p:nvPr>
        </p:nvSpPr>
        <p:spPr/>
        <p:txBody>
          <a:bodyPr/>
          <a:lstStyle/>
          <a:p>
            <a:r>
              <a:rPr lang="en-IN" dirty="0"/>
              <a:t>a)</a:t>
            </a:r>
          </a:p>
          <a:p>
            <a:endParaRPr lang="en-IN" dirty="0"/>
          </a:p>
          <a:p>
            <a:endParaRPr lang="en-IN" dirty="0"/>
          </a:p>
          <a:p>
            <a:endParaRPr lang="en-IN" dirty="0"/>
          </a:p>
          <a:p>
            <a:endParaRPr lang="en-IN" dirty="0"/>
          </a:p>
          <a:p>
            <a:r>
              <a:rPr lang="en-IN" dirty="0"/>
              <a:t>b) </a:t>
            </a:r>
          </a:p>
        </p:txBody>
      </p:sp>
      <p:sp>
        <p:nvSpPr>
          <p:cNvPr id="3" name="Content Placeholder 2">
            <a:extLst>
              <a:ext uri="{FF2B5EF4-FFF2-40B4-BE49-F238E27FC236}">
                <a16:creationId xmlns:a16="http://schemas.microsoft.com/office/drawing/2014/main" id="{00A96E25-9D17-EB46-44EA-C48EC5A2AE42}"/>
              </a:ext>
            </a:extLst>
          </p:cNvPr>
          <p:cNvSpPr>
            <a:spLocks noGrp="1"/>
          </p:cNvSpPr>
          <p:nvPr>
            <p:ph sz="quarter" idx="10"/>
          </p:nvPr>
        </p:nvSpPr>
        <p:spPr/>
        <p:txBody>
          <a:bodyPr/>
          <a:lstStyle/>
          <a:p>
            <a:r>
              <a:rPr lang="en-IN" dirty="0"/>
              <a:t>Solution:</a:t>
            </a:r>
          </a:p>
        </p:txBody>
      </p:sp>
      <p:pic>
        <p:nvPicPr>
          <p:cNvPr id="5" name="Picture 4">
            <a:extLst>
              <a:ext uri="{FF2B5EF4-FFF2-40B4-BE49-F238E27FC236}">
                <a16:creationId xmlns:a16="http://schemas.microsoft.com/office/drawing/2014/main" id="{D78CDCF4-F437-6BA8-3F55-9FD4E0408FB2}"/>
              </a:ext>
            </a:extLst>
          </p:cNvPr>
          <p:cNvPicPr>
            <a:picLocks noChangeAspect="1"/>
          </p:cNvPicPr>
          <p:nvPr/>
        </p:nvPicPr>
        <p:blipFill>
          <a:blip r:embed="rId2"/>
          <a:stretch>
            <a:fillRect/>
          </a:stretch>
        </p:blipFill>
        <p:spPr>
          <a:xfrm>
            <a:off x="1143250" y="2012985"/>
            <a:ext cx="3655388" cy="1386772"/>
          </a:xfrm>
          <a:prstGeom prst="rect">
            <a:avLst/>
          </a:prstGeom>
        </p:spPr>
      </p:pic>
      <p:pic>
        <p:nvPicPr>
          <p:cNvPr id="7" name="Picture 6">
            <a:extLst>
              <a:ext uri="{FF2B5EF4-FFF2-40B4-BE49-F238E27FC236}">
                <a16:creationId xmlns:a16="http://schemas.microsoft.com/office/drawing/2014/main" id="{86AA1239-446D-FBD1-B12E-B70B97850D31}"/>
              </a:ext>
            </a:extLst>
          </p:cNvPr>
          <p:cNvPicPr>
            <a:picLocks noChangeAspect="1"/>
          </p:cNvPicPr>
          <p:nvPr/>
        </p:nvPicPr>
        <p:blipFill>
          <a:blip r:embed="rId3"/>
          <a:stretch>
            <a:fillRect/>
          </a:stretch>
        </p:blipFill>
        <p:spPr>
          <a:xfrm>
            <a:off x="1143250" y="4301077"/>
            <a:ext cx="3845144" cy="1271968"/>
          </a:xfrm>
          <a:prstGeom prst="rect">
            <a:avLst/>
          </a:prstGeom>
        </p:spPr>
      </p:pic>
      <p:sp>
        <p:nvSpPr>
          <p:cNvPr id="6" name="TextBox 5">
            <a:extLst>
              <a:ext uri="{FF2B5EF4-FFF2-40B4-BE49-F238E27FC236}">
                <a16:creationId xmlns:a16="http://schemas.microsoft.com/office/drawing/2014/main" id="{AA22847F-2027-88EF-CCF9-FCECADD69DFC}"/>
              </a:ext>
            </a:extLst>
          </p:cNvPr>
          <p:cNvSpPr txBox="1"/>
          <p:nvPr/>
        </p:nvSpPr>
        <p:spPr>
          <a:xfrm>
            <a:off x="902369" y="1544434"/>
            <a:ext cx="9569918" cy="369332"/>
          </a:xfrm>
          <a:prstGeom prst="rect">
            <a:avLst/>
          </a:prstGeom>
          <a:noFill/>
        </p:spPr>
        <p:txBody>
          <a:bodyPr wrap="square">
            <a:spAutoFit/>
          </a:bodyPr>
          <a:lstStyle/>
          <a:p>
            <a:r>
              <a:rPr lang="en-US" sz="1800" b="0" i="0" u="none" strike="noStrike" baseline="0" dirty="0">
                <a:solidFill>
                  <a:srgbClr val="FF0000"/>
                </a:solidFill>
                <a:latin typeface="Calibri" panose="020F0502020204030204" pitchFamily="34" charset="0"/>
              </a:rPr>
              <a:t>You are meeting a flight that departed on time. What is the probability that it will arrive on time? </a:t>
            </a:r>
            <a:endParaRPr lang="en-IN" dirty="0">
              <a:solidFill>
                <a:srgbClr val="FF0000"/>
              </a:solidFill>
            </a:endParaRPr>
          </a:p>
        </p:txBody>
      </p:sp>
      <p:sp>
        <p:nvSpPr>
          <p:cNvPr id="9" name="TextBox 8">
            <a:extLst>
              <a:ext uri="{FF2B5EF4-FFF2-40B4-BE49-F238E27FC236}">
                <a16:creationId xmlns:a16="http://schemas.microsoft.com/office/drawing/2014/main" id="{83ED6773-23A4-4D7A-2F9A-CE3C0764CACF}"/>
              </a:ext>
            </a:extLst>
          </p:cNvPr>
          <p:cNvSpPr txBox="1"/>
          <p:nvPr/>
        </p:nvSpPr>
        <p:spPr>
          <a:xfrm>
            <a:off x="902369" y="3750996"/>
            <a:ext cx="9868300" cy="369332"/>
          </a:xfrm>
          <a:prstGeom prst="rect">
            <a:avLst/>
          </a:prstGeom>
          <a:noFill/>
        </p:spPr>
        <p:txBody>
          <a:bodyPr wrap="square">
            <a:spAutoFit/>
          </a:bodyPr>
          <a:lstStyle/>
          <a:p>
            <a:r>
              <a:rPr lang="en-US" sz="1800" b="0" i="0" u="none" strike="noStrike" baseline="0" dirty="0">
                <a:solidFill>
                  <a:srgbClr val="FF0000"/>
                </a:solidFill>
                <a:latin typeface="Calibri" panose="020F0502020204030204" pitchFamily="34" charset="0"/>
              </a:rPr>
              <a:t>You have met a flight, and it arrived on time. What is the probability that it departed on time? </a:t>
            </a:r>
            <a:endParaRPr lang="en-IN" dirty="0">
              <a:solidFill>
                <a:srgbClr val="FF0000"/>
              </a:solidFill>
            </a:endParaRPr>
          </a:p>
        </p:txBody>
      </p:sp>
    </p:spTree>
    <p:extLst>
      <p:ext uri="{BB962C8B-B14F-4D97-AF65-F5344CB8AC3E}">
        <p14:creationId xmlns:p14="http://schemas.microsoft.com/office/powerpoint/2010/main" val="878845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4FAB20-3CF5-DB05-7826-4DDEEED73DE5}"/>
              </a:ext>
            </a:extLst>
          </p:cNvPr>
          <p:cNvSpPr>
            <a:spLocks noGrp="1"/>
          </p:cNvSpPr>
          <p:nvPr>
            <p:ph idx="1"/>
          </p:nvPr>
        </p:nvSpPr>
        <p:spPr/>
        <p:txBody>
          <a:bodyPr/>
          <a:lstStyle/>
          <a:p>
            <a:r>
              <a:rPr lang="en-IN" dirty="0"/>
              <a:t>c) </a:t>
            </a:r>
          </a:p>
        </p:txBody>
      </p:sp>
      <p:sp>
        <p:nvSpPr>
          <p:cNvPr id="3" name="Content Placeholder 2">
            <a:extLst>
              <a:ext uri="{FF2B5EF4-FFF2-40B4-BE49-F238E27FC236}">
                <a16:creationId xmlns:a16="http://schemas.microsoft.com/office/drawing/2014/main" id="{10480CC0-BEF9-9ADC-D5D4-04A8C9E0C2F7}"/>
              </a:ext>
            </a:extLst>
          </p:cNvPr>
          <p:cNvSpPr>
            <a:spLocks noGrp="1"/>
          </p:cNvSpPr>
          <p:nvPr>
            <p:ph sz="quarter" idx="10"/>
          </p:nvPr>
        </p:nvSpPr>
        <p:spPr/>
        <p:txBody>
          <a:bodyPr/>
          <a:lstStyle/>
          <a:p>
            <a:endParaRPr lang="en-IN"/>
          </a:p>
        </p:txBody>
      </p:sp>
      <p:pic>
        <p:nvPicPr>
          <p:cNvPr id="5" name="Picture 4">
            <a:extLst>
              <a:ext uri="{FF2B5EF4-FFF2-40B4-BE49-F238E27FC236}">
                <a16:creationId xmlns:a16="http://schemas.microsoft.com/office/drawing/2014/main" id="{9F68F11E-64F6-CF39-2779-8EB7A76F1430}"/>
              </a:ext>
            </a:extLst>
          </p:cNvPr>
          <p:cNvPicPr>
            <a:picLocks noChangeAspect="1"/>
          </p:cNvPicPr>
          <p:nvPr/>
        </p:nvPicPr>
        <p:blipFill>
          <a:blip r:embed="rId2"/>
          <a:stretch>
            <a:fillRect/>
          </a:stretch>
        </p:blipFill>
        <p:spPr>
          <a:xfrm>
            <a:off x="1060549" y="2177233"/>
            <a:ext cx="6938799" cy="3742746"/>
          </a:xfrm>
          <a:prstGeom prst="rect">
            <a:avLst/>
          </a:prstGeom>
        </p:spPr>
      </p:pic>
      <p:sp>
        <p:nvSpPr>
          <p:cNvPr id="6" name="TextBox 5">
            <a:extLst>
              <a:ext uri="{FF2B5EF4-FFF2-40B4-BE49-F238E27FC236}">
                <a16:creationId xmlns:a16="http://schemas.microsoft.com/office/drawing/2014/main" id="{6A2BC74E-7569-526B-0EBC-1F9D3FC20903}"/>
              </a:ext>
            </a:extLst>
          </p:cNvPr>
          <p:cNvSpPr txBox="1"/>
          <p:nvPr/>
        </p:nvSpPr>
        <p:spPr>
          <a:xfrm>
            <a:off x="902368" y="1527933"/>
            <a:ext cx="8790272" cy="369332"/>
          </a:xfrm>
          <a:prstGeom prst="rect">
            <a:avLst/>
          </a:prstGeom>
          <a:noFill/>
        </p:spPr>
        <p:txBody>
          <a:bodyPr wrap="square">
            <a:spAutoFit/>
          </a:bodyPr>
          <a:lstStyle/>
          <a:p>
            <a:r>
              <a:rPr lang="en-US" sz="1800" b="0" i="0" u="none" strike="noStrike" baseline="0" dirty="0">
                <a:solidFill>
                  <a:srgbClr val="FF0000"/>
                </a:solidFill>
                <a:latin typeface="Calibri" panose="020F0502020204030204" pitchFamily="34" charset="0"/>
              </a:rPr>
              <a:t>Are the events, departing on time and arriving on time, independent? </a:t>
            </a:r>
            <a:endParaRPr lang="en-IN" dirty="0">
              <a:solidFill>
                <a:srgbClr val="FF0000"/>
              </a:solidFill>
            </a:endParaRPr>
          </a:p>
        </p:txBody>
      </p:sp>
    </p:spTree>
    <p:extLst>
      <p:ext uri="{BB962C8B-B14F-4D97-AF65-F5344CB8AC3E}">
        <p14:creationId xmlns:p14="http://schemas.microsoft.com/office/powerpoint/2010/main" val="5027499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gn="ctr">
              <a:lnSpc>
                <a:spcPct val="150000"/>
              </a:lnSpc>
            </a:pPr>
            <a:r>
              <a:rPr lang="en-IN" sz="2500" b="1" dirty="0"/>
              <a:t>Conditional Probability</a:t>
            </a:r>
          </a:p>
        </p:txBody>
      </p:sp>
      <p:sp>
        <p:nvSpPr>
          <p:cNvPr id="5" name="TextBox 4">
            <a:extLst>
              <a:ext uri="{FF2B5EF4-FFF2-40B4-BE49-F238E27FC236}">
                <a16:creationId xmlns:a16="http://schemas.microsoft.com/office/drawing/2014/main" id="{3B9A8692-DA35-76EC-08FF-2130F7406B6C}"/>
              </a:ext>
            </a:extLst>
          </p:cNvPr>
          <p:cNvSpPr txBox="1"/>
          <p:nvPr/>
        </p:nvSpPr>
        <p:spPr>
          <a:xfrm>
            <a:off x="218661" y="1418062"/>
            <a:ext cx="11754678" cy="2053896"/>
          </a:xfrm>
          <a:prstGeom prst="rect">
            <a:avLst/>
          </a:prstGeom>
          <a:noFill/>
        </p:spPr>
        <p:txBody>
          <a:bodyPr wrap="square">
            <a:spAutoFit/>
          </a:bodyPr>
          <a:lstStyle/>
          <a:p>
            <a:pPr marL="0" marR="495935" algn="just">
              <a:lnSpc>
                <a:spcPct val="115000"/>
              </a:lnSpc>
              <a:spcBef>
                <a:spcPts val="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9</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In an online shopping survey, 30% of persons made shopping in Flipkart, 45% of persons made shopping in Amazon   </a:t>
            </a:r>
          </a:p>
          <a:p>
            <a:pPr marL="0" marR="495935" algn="just">
              <a:lnSpc>
                <a:spcPct val="115000"/>
              </a:lnSpc>
              <a:spcBef>
                <a:spcPts val="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and 5% made purchases in both. If a person is selected at random, find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495935" algn="just">
              <a:lnSpc>
                <a:spcPct val="115000"/>
              </a:lnSpc>
              <a:spcBef>
                <a:spcPts val="0"/>
              </a:spcBef>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the probability that he makes shopping in at least one of two companies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495935" algn="just">
              <a:lnSpc>
                <a:spcPct val="115000"/>
              </a:lnSpc>
              <a:spcBef>
                <a:spcPts val="0"/>
              </a:spcBef>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ii)the probability that he makes shopping in Amazon given that he already made shopping in Flipkart.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Calibri" panose="020F0502020204030204" pitchFamily="34" charset="0"/>
              </a:rPr>
              <a:t>iii)the probability that the person will not make shopping in Flipkart given that he already made purchase in Amazon.</a:t>
            </a:r>
            <a:endParaRPr lang="en-US" dirty="0"/>
          </a:p>
        </p:txBody>
      </p:sp>
    </p:spTree>
    <p:extLst>
      <p:ext uri="{BB962C8B-B14F-4D97-AF65-F5344CB8AC3E}">
        <p14:creationId xmlns:p14="http://schemas.microsoft.com/office/powerpoint/2010/main" val="4118009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gn="ctr">
              <a:lnSpc>
                <a:spcPct val="150000"/>
              </a:lnSpc>
            </a:pPr>
            <a:r>
              <a:rPr lang="en-IN" sz="2500" b="1" dirty="0"/>
              <a:t>Conditional Probability</a:t>
            </a:r>
          </a:p>
        </p:txBody>
      </p:sp>
      <p:sp>
        <p:nvSpPr>
          <p:cNvPr id="7" name="TextBox 6">
            <a:extLst>
              <a:ext uri="{FF2B5EF4-FFF2-40B4-BE49-F238E27FC236}">
                <a16:creationId xmlns:a16="http://schemas.microsoft.com/office/drawing/2014/main" id="{3210902F-F3FC-DF46-B5AF-90204AE73264}"/>
              </a:ext>
            </a:extLst>
          </p:cNvPr>
          <p:cNvSpPr txBox="1"/>
          <p:nvPr/>
        </p:nvSpPr>
        <p:spPr>
          <a:xfrm>
            <a:off x="598571" y="1537633"/>
            <a:ext cx="4286250" cy="2250424"/>
          </a:xfrm>
          <a:prstGeom prst="rect">
            <a:avLst/>
          </a:prstGeom>
          <a:noFill/>
        </p:spPr>
        <p:txBody>
          <a:bodyPr wrap="square">
            <a:spAutoFit/>
          </a:bodyPr>
          <a:lstStyle/>
          <a:p>
            <a:pPr marL="0" marR="495935" algn="just">
              <a:lnSpc>
                <a:spcPct val="136000"/>
              </a:lnSpc>
              <a:spcBef>
                <a:spcPts val="0"/>
              </a:spcBef>
              <a:spcAft>
                <a:spcPts val="800"/>
              </a:spcAft>
            </a:pPr>
            <a:r>
              <a:rPr lang="en-IN" sz="1800" u="sng"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Solution:</a:t>
            </a:r>
            <a:r>
              <a:rPr lang="en-IN" sz="1800" dirty="0">
                <a:effectLst/>
                <a:latin typeface="Calibri" panose="020F0502020204030204" pitchFamily="34" charset="0"/>
                <a:ea typeface="Calibri" panose="020F0502020204030204" pitchFamily="34" charset="0"/>
                <a:cs typeface="Times New Roman" panose="02020603050405020304" pitchFamily="18" charset="0"/>
              </a:rPr>
              <a:t> Given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𝑃</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𝐹</a:t>
            </a:r>
            <a:r>
              <a:rPr lang="en-IN" sz="1800" dirty="0">
                <a:effectLst/>
                <a:latin typeface="Calibri" panose="020F0502020204030204" pitchFamily="34" charset="0"/>
                <a:ea typeface="Calibri" panose="020F0502020204030204" pitchFamily="34" charset="0"/>
                <a:cs typeface="Times New Roman" panose="02020603050405020304" pitchFamily="18" charset="0"/>
              </a:rPr>
              <a:t>) = 30% = 0.30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𝑃</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𝐴</a:t>
            </a:r>
            <a:r>
              <a:rPr lang="en-IN" sz="1800" dirty="0">
                <a:effectLst/>
                <a:latin typeface="Calibri" panose="020F0502020204030204" pitchFamily="34" charset="0"/>
                <a:ea typeface="Calibri" panose="020F0502020204030204" pitchFamily="34" charset="0"/>
                <a:cs typeface="Times New Roman" panose="02020603050405020304" pitchFamily="18" charset="0"/>
              </a:rPr>
              <a:t>) = 45% = 0.45     </a:t>
            </a:r>
          </a:p>
          <a:p>
            <a:pPr marL="0" marR="495935" algn="just">
              <a:lnSpc>
                <a:spcPct val="136000"/>
              </a:lnSpc>
              <a:spcBef>
                <a:spcPts val="0"/>
              </a:spcBef>
              <a:spcAft>
                <a:spcPts val="800"/>
              </a:spcAft>
            </a:pPr>
            <a:r>
              <a:rPr lang="en-IN" sz="1800" dirty="0">
                <a:effectLst/>
                <a:latin typeface="Cambria Math" panose="02040503050406030204" pitchFamily="18" charset="0"/>
                <a:ea typeface="Calibri" panose="020F0502020204030204" pitchFamily="34" charset="0"/>
                <a:cs typeface="Cambria Math" panose="02040503050406030204" pitchFamily="18" charset="0"/>
              </a:rPr>
              <a:t>𝑃</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𝐹</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𝐴</a:t>
            </a:r>
            <a:r>
              <a:rPr lang="en-IN" sz="1800" dirty="0">
                <a:effectLst/>
                <a:latin typeface="Calibri" panose="020F0502020204030204" pitchFamily="34" charset="0"/>
                <a:ea typeface="Calibri" panose="020F0502020204030204" pitchFamily="34" charset="0"/>
                <a:cs typeface="Times New Roman" panose="02020603050405020304" pitchFamily="18" charset="0"/>
              </a:rPr>
              <a:t>) = 5% = 0.05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495935" algn="just">
              <a:lnSpc>
                <a:spcPct val="136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𝑃</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𝐹</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𝐴</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𝑃</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𝐹</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𝑃</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𝐴</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𝑃</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𝐹</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a:effectLst/>
                <a:latin typeface="Cambria Math" panose="02040503050406030204" pitchFamily="18" charset="0"/>
                <a:ea typeface="Calibri" panose="020F0502020204030204" pitchFamily="34" charset="0"/>
                <a:cs typeface="Cambria Math" panose="02040503050406030204" pitchFamily="18" charset="0"/>
              </a:rPr>
              <a:t>𝐴</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495935" algn="just">
              <a:lnSpc>
                <a:spcPct val="136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 0.30 + 0.45 − 0.05 = 0.7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8EF5566E-BD19-7CC2-B447-0BE0D690719F}"/>
              </a:ext>
            </a:extLst>
          </p:cNvPr>
          <p:cNvPicPr>
            <a:picLocks noChangeAspect="1"/>
          </p:cNvPicPr>
          <p:nvPr/>
        </p:nvPicPr>
        <p:blipFill>
          <a:blip r:embed="rId2"/>
          <a:stretch>
            <a:fillRect/>
          </a:stretch>
        </p:blipFill>
        <p:spPr>
          <a:xfrm>
            <a:off x="6096000" y="1426946"/>
            <a:ext cx="4286250" cy="3180734"/>
          </a:xfrm>
          <a:prstGeom prst="rect">
            <a:avLst/>
          </a:prstGeom>
        </p:spPr>
      </p:pic>
    </p:spTree>
    <p:extLst>
      <p:ext uri="{BB962C8B-B14F-4D97-AF65-F5344CB8AC3E}">
        <p14:creationId xmlns:p14="http://schemas.microsoft.com/office/powerpoint/2010/main" val="2052974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69D429-E6C1-D6F0-418B-50DE5761375B}"/>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Total Probability</a:t>
            </a:r>
          </a:p>
        </p:txBody>
      </p:sp>
      <p:sp>
        <p:nvSpPr>
          <p:cNvPr id="5" name="TextBox 4">
            <a:extLst>
              <a:ext uri="{FF2B5EF4-FFF2-40B4-BE49-F238E27FC236}">
                <a16:creationId xmlns:a16="http://schemas.microsoft.com/office/drawing/2014/main" id="{4A4A172B-2C86-5AF8-6C0A-2482445CACF6}"/>
              </a:ext>
            </a:extLst>
          </p:cNvPr>
          <p:cNvSpPr txBox="1"/>
          <p:nvPr/>
        </p:nvSpPr>
        <p:spPr>
          <a:xfrm>
            <a:off x="206237" y="1414444"/>
            <a:ext cx="11671024" cy="1027782"/>
          </a:xfrm>
          <a:prstGeom prst="rect">
            <a:avLst/>
          </a:prstGeom>
          <a:noFill/>
        </p:spPr>
        <p:txBody>
          <a:bodyPr wrap="square">
            <a:spAutoFit/>
          </a:bodyPr>
          <a:lstStyle/>
          <a:p>
            <a:pPr marL="0" marR="0" algn="just">
              <a:lnSpc>
                <a:spcPct val="115000"/>
              </a:lnSpc>
              <a:spcBef>
                <a:spcPts val="0"/>
              </a:spcBef>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10) A businessman goes to hotels X, Y, Z -20%, 50%, 30% of the time, respectively. It is known that 5%, 4%, 8% of the rooms in X, Y, Z hotels have faulty plumbing. Determine the probability that the businessman goes to hotel with faulty plumbing.</a:t>
            </a:r>
            <a:endParaRPr lang="en-US" dirty="0"/>
          </a:p>
        </p:txBody>
      </p:sp>
      <p:pic>
        <p:nvPicPr>
          <p:cNvPr id="3" name="Picture 2">
            <a:extLst>
              <a:ext uri="{FF2B5EF4-FFF2-40B4-BE49-F238E27FC236}">
                <a16:creationId xmlns:a16="http://schemas.microsoft.com/office/drawing/2014/main" id="{4507DE4D-83DE-A0F6-0A1F-26131E23DB5E}"/>
              </a:ext>
            </a:extLst>
          </p:cNvPr>
          <p:cNvPicPr>
            <a:picLocks noChangeAspect="1"/>
          </p:cNvPicPr>
          <p:nvPr/>
        </p:nvPicPr>
        <p:blipFill>
          <a:blip r:embed="rId2"/>
          <a:stretch>
            <a:fillRect/>
          </a:stretch>
        </p:blipFill>
        <p:spPr>
          <a:xfrm>
            <a:off x="1506151" y="2618072"/>
            <a:ext cx="4769521" cy="3463855"/>
          </a:xfrm>
          <a:prstGeom prst="rect">
            <a:avLst/>
          </a:prstGeom>
        </p:spPr>
      </p:pic>
      <p:sp>
        <p:nvSpPr>
          <p:cNvPr id="6" name="TextBox 5">
            <a:extLst>
              <a:ext uri="{FF2B5EF4-FFF2-40B4-BE49-F238E27FC236}">
                <a16:creationId xmlns:a16="http://schemas.microsoft.com/office/drawing/2014/main" id="{177E26F7-53B9-8D7F-1601-A521595E67DD}"/>
              </a:ext>
            </a:extLst>
          </p:cNvPr>
          <p:cNvSpPr txBox="1"/>
          <p:nvPr/>
        </p:nvSpPr>
        <p:spPr>
          <a:xfrm>
            <a:off x="423512" y="2618072"/>
            <a:ext cx="1559292" cy="369332"/>
          </a:xfrm>
          <a:prstGeom prst="rect">
            <a:avLst/>
          </a:prstGeom>
          <a:noFill/>
        </p:spPr>
        <p:txBody>
          <a:bodyPr wrap="square" rtlCol="0">
            <a:spAutoFit/>
          </a:bodyPr>
          <a:lstStyle/>
          <a:p>
            <a:r>
              <a:rPr lang="en-IN" dirty="0"/>
              <a:t>Given:</a:t>
            </a:r>
          </a:p>
        </p:txBody>
      </p:sp>
    </p:spTree>
    <p:extLst>
      <p:ext uri="{BB962C8B-B14F-4D97-AF65-F5344CB8AC3E}">
        <p14:creationId xmlns:p14="http://schemas.microsoft.com/office/powerpoint/2010/main" val="3684851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2EC5C9-2567-D234-61CA-83DC1A122FC2}"/>
              </a:ext>
            </a:extLst>
          </p:cNvPr>
          <p:cNvPicPr>
            <a:picLocks noGrp="1" noChangeAspect="1"/>
          </p:cNvPicPr>
          <p:nvPr>
            <p:ph idx="1"/>
          </p:nvPr>
        </p:nvPicPr>
        <p:blipFill>
          <a:blip r:embed="rId2"/>
          <a:stretch>
            <a:fillRect/>
          </a:stretch>
        </p:blipFill>
        <p:spPr>
          <a:xfrm>
            <a:off x="728181" y="1601376"/>
            <a:ext cx="8743077" cy="1012542"/>
          </a:xfrm>
        </p:spPr>
      </p:pic>
      <p:sp>
        <p:nvSpPr>
          <p:cNvPr id="3" name="Content Placeholder 2">
            <a:extLst>
              <a:ext uri="{FF2B5EF4-FFF2-40B4-BE49-F238E27FC236}">
                <a16:creationId xmlns:a16="http://schemas.microsoft.com/office/drawing/2014/main" id="{D79276D1-04DA-1913-7709-948B84482F55}"/>
              </a:ext>
            </a:extLst>
          </p:cNvPr>
          <p:cNvSpPr>
            <a:spLocks noGrp="1"/>
          </p:cNvSpPr>
          <p:nvPr>
            <p:ph sz="quarter" idx="10"/>
          </p:nvPr>
        </p:nvSpPr>
        <p:spPr/>
        <p:txBody>
          <a:bodyPr/>
          <a:lstStyle/>
          <a:p>
            <a:endParaRPr lang="en-IN"/>
          </a:p>
        </p:txBody>
      </p:sp>
      <p:pic>
        <p:nvPicPr>
          <p:cNvPr id="7" name="Picture 6">
            <a:extLst>
              <a:ext uri="{FF2B5EF4-FFF2-40B4-BE49-F238E27FC236}">
                <a16:creationId xmlns:a16="http://schemas.microsoft.com/office/drawing/2014/main" id="{4181CD3D-6E2A-735F-781B-E1A313279717}"/>
              </a:ext>
            </a:extLst>
          </p:cNvPr>
          <p:cNvPicPr>
            <a:picLocks noChangeAspect="1"/>
          </p:cNvPicPr>
          <p:nvPr/>
        </p:nvPicPr>
        <p:blipFill>
          <a:blip r:embed="rId3"/>
          <a:stretch>
            <a:fillRect/>
          </a:stretch>
        </p:blipFill>
        <p:spPr>
          <a:xfrm>
            <a:off x="2393835" y="3019403"/>
            <a:ext cx="6961921" cy="1279327"/>
          </a:xfrm>
          <a:prstGeom prst="rect">
            <a:avLst/>
          </a:prstGeom>
        </p:spPr>
      </p:pic>
    </p:spTree>
    <p:extLst>
      <p:ext uri="{BB962C8B-B14F-4D97-AF65-F5344CB8AC3E}">
        <p14:creationId xmlns:p14="http://schemas.microsoft.com/office/powerpoint/2010/main" val="1906892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229263-8710-FE1F-74B1-9BDE641AB70E}"/>
              </a:ext>
            </a:extLst>
          </p:cNvPr>
          <p:cNvSpPr txBox="1"/>
          <p:nvPr/>
        </p:nvSpPr>
        <p:spPr>
          <a:xfrm>
            <a:off x="-119270" y="681966"/>
            <a:ext cx="3856382" cy="609782"/>
          </a:xfrm>
          <a:prstGeom prst="rect">
            <a:avLst/>
          </a:prstGeom>
          <a:noFill/>
        </p:spPr>
        <p:txBody>
          <a:bodyPr wrap="square">
            <a:spAutoFit/>
          </a:bodyPr>
          <a:lstStyle/>
          <a:p>
            <a:pPr lvl="1">
              <a:lnSpc>
                <a:spcPct val="150000"/>
              </a:lnSpc>
            </a:pPr>
            <a:r>
              <a:rPr lang="en-IN" sz="2500" b="1" dirty="0"/>
              <a:t>Total Probability</a:t>
            </a:r>
          </a:p>
        </p:txBody>
      </p:sp>
      <p:sp>
        <p:nvSpPr>
          <p:cNvPr id="4" name="Rectangle 1">
            <a:extLst>
              <a:ext uri="{FF2B5EF4-FFF2-40B4-BE49-F238E27FC236}">
                <a16:creationId xmlns:a16="http://schemas.microsoft.com/office/drawing/2014/main" id="{EB7F6B6C-76F8-DB7A-FAAE-E11AB9962412}"/>
              </a:ext>
            </a:extLst>
          </p:cNvPr>
          <p:cNvSpPr>
            <a:spLocks noChangeArrowheads="1"/>
          </p:cNvSpPr>
          <p:nvPr/>
        </p:nvSpPr>
        <p:spPr bwMode="auto">
          <a:xfrm>
            <a:off x="356136" y="1378786"/>
            <a:ext cx="925657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None/>
            </a:pPr>
            <a:r>
              <a:rPr kumimoji="0" lang="en-US" altLang="en-US" b="0" i="0" u="none" strike="noStrike" cap="none" normalizeH="0" baseline="0" dirty="0">
                <a:ln>
                  <a:noFill/>
                </a:ln>
                <a:solidFill>
                  <a:schemeClr val="tx1"/>
                </a:solidFill>
                <a:effectLst/>
                <a:latin typeface="Arial" panose="020B0604020202020204" pitchFamily="34" charset="0"/>
              </a:rPr>
              <a:t>11)</a:t>
            </a:r>
            <a:r>
              <a:rPr lang="en-US" dirty="0"/>
              <a:t> A company receives 50% of customer complaints via phone, 30% via email, and 20% via chat.</a:t>
            </a:r>
            <a:br>
              <a:rPr lang="en-US" dirty="0"/>
            </a:br>
            <a:r>
              <a:rPr lang="en-US" dirty="0"/>
              <a:t>      Resolution rates:</a:t>
            </a:r>
          </a:p>
          <a:p>
            <a:pPr>
              <a:buFont typeface="Arial" panose="020B0604020202020204" pitchFamily="34" charset="0"/>
              <a:buChar char="•"/>
            </a:pPr>
            <a:r>
              <a:rPr lang="en-US" dirty="0"/>
              <a:t>     Phone: 90%</a:t>
            </a:r>
          </a:p>
          <a:p>
            <a:pPr>
              <a:buFont typeface="Arial" panose="020B0604020202020204" pitchFamily="34" charset="0"/>
              <a:buChar char="•"/>
            </a:pPr>
            <a:r>
              <a:rPr lang="en-US" dirty="0"/>
              <a:t>     Email: 80%</a:t>
            </a:r>
          </a:p>
          <a:p>
            <a:pPr>
              <a:buFont typeface="Arial" panose="020B0604020202020204" pitchFamily="34" charset="0"/>
              <a:buChar char="•"/>
            </a:pPr>
            <a:r>
              <a:rPr lang="en-US" dirty="0"/>
              <a:t>     Chat: 70%</a:t>
            </a:r>
          </a:p>
          <a:p>
            <a:r>
              <a:rPr lang="en-US" b="1" dirty="0"/>
              <a:t>     </a:t>
            </a:r>
            <a:r>
              <a:rPr lang="en-US" dirty="0"/>
              <a:t>What is the probability that a randomly selected complaint is resolved?</a:t>
            </a:r>
          </a:p>
          <a:p>
            <a:endParaRPr lang="en-US"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Given:</a:t>
            </a:r>
          </a:p>
        </p:txBody>
      </p:sp>
      <p:pic>
        <p:nvPicPr>
          <p:cNvPr id="14" name="Picture 13">
            <a:extLst>
              <a:ext uri="{FF2B5EF4-FFF2-40B4-BE49-F238E27FC236}">
                <a16:creationId xmlns:a16="http://schemas.microsoft.com/office/drawing/2014/main" id="{99CCA40E-83AD-5B17-8A05-EB2DBFC3B4DB}"/>
              </a:ext>
            </a:extLst>
          </p:cNvPr>
          <p:cNvPicPr>
            <a:picLocks noChangeAspect="1"/>
          </p:cNvPicPr>
          <p:nvPr/>
        </p:nvPicPr>
        <p:blipFill>
          <a:blip r:embed="rId2"/>
          <a:stretch>
            <a:fillRect/>
          </a:stretch>
        </p:blipFill>
        <p:spPr>
          <a:xfrm>
            <a:off x="742675" y="3776553"/>
            <a:ext cx="5353325" cy="2235315"/>
          </a:xfrm>
          <a:prstGeom prst="rect">
            <a:avLst/>
          </a:prstGeom>
        </p:spPr>
      </p:pic>
    </p:spTree>
    <p:extLst>
      <p:ext uri="{BB962C8B-B14F-4D97-AF65-F5344CB8AC3E}">
        <p14:creationId xmlns:p14="http://schemas.microsoft.com/office/powerpoint/2010/main" val="1262348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82E1CE-41A1-E678-00EC-AE926B0F5AA8}"/>
              </a:ext>
            </a:extLst>
          </p:cNvPr>
          <p:cNvSpPr>
            <a:spLocks noGrp="1"/>
          </p:cNvSpPr>
          <p:nvPr>
            <p:ph sz="quarter" idx="10"/>
          </p:nvPr>
        </p:nvSpPr>
        <p:spPr/>
        <p:txBody>
          <a:bodyPr/>
          <a:lstStyle/>
          <a:p>
            <a:endParaRPr lang="en-IN"/>
          </a:p>
        </p:txBody>
      </p:sp>
      <p:pic>
        <p:nvPicPr>
          <p:cNvPr id="12" name="Content Placeholder 11">
            <a:extLst>
              <a:ext uri="{FF2B5EF4-FFF2-40B4-BE49-F238E27FC236}">
                <a16:creationId xmlns:a16="http://schemas.microsoft.com/office/drawing/2014/main" id="{0A9226E2-2835-C422-EDF4-16CBB9DCCEA0}"/>
              </a:ext>
            </a:extLst>
          </p:cNvPr>
          <p:cNvPicPr>
            <a:picLocks noGrp="1" noChangeAspect="1"/>
          </p:cNvPicPr>
          <p:nvPr>
            <p:ph idx="1"/>
          </p:nvPr>
        </p:nvPicPr>
        <p:blipFill>
          <a:blip r:embed="rId2"/>
          <a:stretch>
            <a:fillRect/>
          </a:stretch>
        </p:blipFill>
        <p:spPr>
          <a:xfrm>
            <a:off x="615772" y="3367522"/>
            <a:ext cx="9968915" cy="963845"/>
          </a:xfrm>
          <a:prstGeom prst="rect">
            <a:avLst/>
          </a:prstGeom>
        </p:spPr>
      </p:pic>
      <p:pic>
        <p:nvPicPr>
          <p:cNvPr id="5" name="Picture 4">
            <a:extLst>
              <a:ext uri="{FF2B5EF4-FFF2-40B4-BE49-F238E27FC236}">
                <a16:creationId xmlns:a16="http://schemas.microsoft.com/office/drawing/2014/main" id="{100A6B71-E56B-6039-3B53-E25A2C29FD23}"/>
              </a:ext>
            </a:extLst>
          </p:cNvPr>
          <p:cNvPicPr>
            <a:picLocks noChangeAspect="1"/>
          </p:cNvPicPr>
          <p:nvPr/>
        </p:nvPicPr>
        <p:blipFill>
          <a:blip r:embed="rId3"/>
          <a:stretch>
            <a:fillRect/>
          </a:stretch>
        </p:blipFill>
        <p:spPr>
          <a:xfrm>
            <a:off x="494760" y="1709769"/>
            <a:ext cx="10006403" cy="1447317"/>
          </a:xfrm>
          <a:prstGeom prst="rect">
            <a:avLst/>
          </a:prstGeom>
        </p:spPr>
      </p:pic>
      <p:sp>
        <p:nvSpPr>
          <p:cNvPr id="7" name="TextBox 6">
            <a:extLst>
              <a:ext uri="{FF2B5EF4-FFF2-40B4-BE49-F238E27FC236}">
                <a16:creationId xmlns:a16="http://schemas.microsoft.com/office/drawing/2014/main" id="{66B97836-E582-85B5-9C34-80CF6EA9015C}"/>
              </a:ext>
            </a:extLst>
          </p:cNvPr>
          <p:cNvSpPr txBox="1"/>
          <p:nvPr/>
        </p:nvSpPr>
        <p:spPr>
          <a:xfrm>
            <a:off x="615772" y="4635979"/>
            <a:ext cx="9968914" cy="923330"/>
          </a:xfrm>
          <a:prstGeom prst="rect">
            <a:avLst/>
          </a:prstGeom>
          <a:noFill/>
        </p:spPr>
        <p:txBody>
          <a:bodyPr wrap="square">
            <a:spAutoFit/>
          </a:bodyPr>
          <a:lstStyle/>
          <a:p>
            <a:pPr algn="just">
              <a:buNone/>
            </a:pPr>
            <a:r>
              <a:rPr lang="en-US" b="1" dirty="0"/>
              <a:t>Conclusion:</a:t>
            </a:r>
          </a:p>
          <a:p>
            <a:pPr algn="just"/>
            <a:r>
              <a:rPr lang="en-US" dirty="0"/>
              <a:t>So, there is an </a:t>
            </a:r>
            <a:r>
              <a:rPr lang="en-US" b="1" dirty="0"/>
              <a:t>83%</a:t>
            </a:r>
            <a:r>
              <a:rPr lang="en-US" dirty="0"/>
              <a:t> chance that a randomly selected customer complaint will be resolved, based on the given resolution rates for each channel.</a:t>
            </a:r>
          </a:p>
        </p:txBody>
      </p:sp>
    </p:spTree>
    <p:extLst>
      <p:ext uri="{BB962C8B-B14F-4D97-AF65-F5344CB8AC3E}">
        <p14:creationId xmlns:p14="http://schemas.microsoft.com/office/powerpoint/2010/main" val="7002039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4FB798-722D-70ED-5D9E-C18E4DDA3B3A}"/>
              </a:ext>
            </a:extLst>
          </p:cNvPr>
          <p:cNvPicPr>
            <a:picLocks noGrp="1" noChangeAspect="1"/>
          </p:cNvPicPr>
          <p:nvPr>
            <p:ph idx="1"/>
          </p:nvPr>
        </p:nvPicPr>
        <p:blipFill>
          <a:blip r:embed="rId2"/>
          <a:stretch>
            <a:fillRect/>
          </a:stretch>
        </p:blipFill>
        <p:spPr>
          <a:xfrm>
            <a:off x="1414914" y="1295400"/>
            <a:ext cx="5871410" cy="5235154"/>
          </a:xfrm>
        </p:spPr>
      </p:pic>
      <p:sp>
        <p:nvSpPr>
          <p:cNvPr id="3" name="Content Placeholder 2">
            <a:extLst>
              <a:ext uri="{FF2B5EF4-FFF2-40B4-BE49-F238E27FC236}">
                <a16:creationId xmlns:a16="http://schemas.microsoft.com/office/drawing/2014/main" id="{12DF16FE-5642-AD9D-B53B-87D93C8EB926}"/>
              </a:ext>
            </a:extLst>
          </p:cNvPr>
          <p:cNvSpPr>
            <a:spLocks noGrp="1"/>
          </p:cNvSpPr>
          <p:nvPr>
            <p:ph sz="quarter" idx="10"/>
          </p:nvPr>
        </p:nvSpPr>
        <p:spPr/>
        <p:txBody>
          <a:bodyPr/>
          <a:lstStyle/>
          <a:p>
            <a:r>
              <a:rPr lang="en-IN" dirty="0"/>
              <a:t>Problem:</a:t>
            </a:r>
          </a:p>
        </p:txBody>
      </p:sp>
      <p:sp>
        <p:nvSpPr>
          <p:cNvPr id="6" name="TextBox 5">
            <a:extLst>
              <a:ext uri="{FF2B5EF4-FFF2-40B4-BE49-F238E27FC236}">
                <a16:creationId xmlns:a16="http://schemas.microsoft.com/office/drawing/2014/main" id="{1B38CAC9-F72C-92AA-06DE-2760E546AA3C}"/>
              </a:ext>
            </a:extLst>
          </p:cNvPr>
          <p:cNvSpPr txBox="1"/>
          <p:nvPr/>
        </p:nvSpPr>
        <p:spPr>
          <a:xfrm>
            <a:off x="693019" y="1366787"/>
            <a:ext cx="539015" cy="369332"/>
          </a:xfrm>
          <a:prstGeom prst="rect">
            <a:avLst/>
          </a:prstGeom>
          <a:noFill/>
        </p:spPr>
        <p:txBody>
          <a:bodyPr wrap="square" rtlCol="0">
            <a:spAutoFit/>
          </a:bodyPr>
          <a:lstStyle/>
          <a:p>
            <a:r>
              <a:rPr lang="en-IN" dirty="0"/>
              <a:t>12.</a:t>
            </a:r>
          </a:p>
        </p:txBody>
      </p:sp>
      <p:sp>
        <p:nvSpPr>
          <p:cNvPr id="7" name="TextBox 6">
            <a:extLst>
              <a:ext uri="{FF2B5EF4-FFF2-40B4-BE49-F238E27FC236}">
                <a16:creationId xmlns:a16="http://schemas.microsoft.com/office/drawing/2014/main" id="{6AAFEF82-7A4F-D8E1-07F0-1A8AFE2E8EDF}"/>
              </a:ext>
            </a:extLst>
          </p:cNvPr>
          <p:cNvSpPr txBox="1"/>
          <p:nvPr/>
        </p:nvSpPr>
        <p:spPr>
          <a:xfrm>
            <a:off x="962526" y="3090329"/>
            <a:ext cx="1212783" cy="369332"/>
          </a:xfrm>
          <a:prstGeom prst="rect">
            <a:avLst/>
          </a:prstGeom>
          <a:noFill/>
        </p:spPr>
        <p:txBody>
          <a:bodyPr wrap="square" rtlCol="0">
            <a:spAutoFit/>
          </a:bodyPr>
          <a:lstStyle/>
          <a:p>
            <a:r>
              <a:rPr lang="en-IN" u="sng" dirty="0">
                <a:solidFill>
                  <a:srgbClr val="FF0000"/>
                </a:solidFill>
              </a:rPr>
              <a:t>Solution:</a:t>
            </a:r>
          </a:p>
        </p:txBody>
      </p:sp>
    </p:spTree>
    <p:extLst>
      <p:ext uri="{BB962C8B-B14F-4D97-AF65-F5344CB8AC3E}">
        <p14:creationId xmlns:p14="http://schemas.microsoft.com/office/powerpoint/2010/main" val="2710404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53D893-93E9-4A7D-C3A1-BFE3BD532F36}"/>
              </a:ext>
            </a:extLst>
          </p:cNvPr>
          <p:cNvSpPr txBox="1"/>
          <p:nvPr/>
        </p:nvSpPr>
        <p:spPr>
          <a:xfrm>
            <a:off x="693019" y="1366787"/>
            <a:ext cx="539015" cy="369332"/>
          </a:xfrm>
          <a:prstGeom prst="rect">
            <a:avLst/>
          </a:prstGeom>
          <a:noFill/>
        </p:spPr>
        <p:txBody>
          <a:bodyPr wrap="square" rtlCol="0">
            <a:spAutoFit/>
          </a:bodyPr>
          <a:lstStyle/>
          <a:p>
            <a:r>
              <a:rPr lang="en-IN" dirty="0"/>
              <a:t>13.</a:t>
            </a:r>
          </a:p>
        </p:txBody>
      </p:sp>
      <p:sp>
        <p:nvSpPr>
          <p:cNvPr id="5" name="Content Placeholder 2">
            <a:extLst>
              <a:ext uri="{FF2B5EF4-FFF2-40B4-BE49-F238E27FC236}">
                <a16:creationId xmlns:a16="http://schemas.microsoft.com/office/drawing/2014/main" id="{7D6CD5BD-18A3-2F15-C4A1-F186EFF35238}"/>
              </a:ext>
            </a:extLst>
          </p:cNvPr>
          <p:cNvSpPr>
            <a:spLocks noGrp="1"/>
          </p:cNvSpPr>
          <p:nvPr>
            <p:ph sz="quarter" idx="10"/>
          </p:nvPr>
        </p:nvSpPr>
        <p:spPr>
          <a:xfrm>
            <a:off x="406400" y="152400"/>
            <a:ext cx="8432800" cy="1143000"/>
          </a:xfrm>
        </p:spPr>
        <p:txBody>
          <a:bodyPr/>
          <a:lstStyle/>
          <a:p>
            <a:r>
              <a:rPr lang="en-IN" dirty="0"/>
              <a:t>Problem:</a:t>
            </a:r>
          </a:p>
        </p:txBody>
      </p:sp>
      <p:sp>
        <p:nvSpPr>
          <p:cNvPr id="6" name="TextBox 5">
            <a:extLst>
              <a:ext uri="{FF2B5EF4-FFF2-40B4-BE49-F238E27FC236}">
                <a16:creationId xmlns:a16="http://schemas.microsoft.com/office/drawing/2014/main" id="{55B61916-21F6-0BED-AFBB-B61B65EDCCAB}"/>
              </a:ext>
            </a:extLst>
          </p:cNvPr>
          <p:cNvSpPr txBox="1"/>
          <p:nvPr/>
        </p:nvSpPr>
        <p:spPr>
          <a:xfrm>
            <a:off x="1164656" y="1366786"/>
            <a:ext cx="8239225" cy="646331"/>
          </a:xfrm>
          <a:prstGeom prst="rect">
            <a:avLst/>
          </a:prstGeom>
          <a:noFill/>
        </p:spPr>
        <p:txBody>
          <a:bodyPr wrap="square" rtlCol="0">
            <a:spAutoFit/>
          </a:bodyPr>
          <a:lstStyle/>
          <a:p>
            <a:r>
              <a:rPr lang="en-IN" dirty="0"/>
              <a:t>Suppose A, B and C are three mutually exclusive events in a sample space. Given that S= AUBUC, P(A) = (1/5)P(B), and P(C)= 4P(A), find P(BUC). </a:t>
            </a:r>
          </a:p>
        </p:txBody>
      </p:sp>
      <p:sp>
        <p:nvSpPr>
          <p:cNvPr id="3" name="TextBox 2">
            <a:extLst>
              <a:ext uri="{FF2B5EF4-FFF2-40B4-BE49-F238E27FC236}">
                <a16:creationId xmlns:a16="http://schemas.microsoft.com/office/drawing/2014/main" id="{726028B0-1F63-9E88-080B-4A897B61191C}"/>
              </a:ext>
            </a:extLst>
          </p:cNvPr>
          <p:cNvSpPr txBox="1"/>
          <p:nvPr/>
        </p:nvSpPr>
        <p:spPr>
          <a:xfrm>
            <a:off x="1232034" y="2222585"/>
            <a:ext cx="6097604" cy="369332"/>
          </a:xfrm>
          <a:prstGeom prst="rect">
            <a:avLst/>
          </a:prstGeom>
          <a:noFill/>
        </p:spPr>
        <p:txBody>
          <a:bodyPr wrap="square">
            <a:spAutoFit/>
          </a:bodyPr>
          <a:lstStyle/>
          <a:p>
            <a:r>
              <a:rPr lang="en-IN" dirty="0"/>
              <a:t>Solution:</a:t>
            </a:r>
          </a:p>
        </p:txBody>
      </p:sp>
    </p:spTree>
    <p:extLst>
      <p:ext uri="{BB962C8B-B14F-4D97-AF65-F5344CB8AC3E}">
        <p14:creationId xmlns:p14="http://schemas.microsoft.com/office/powerpoint/2010/main" val="259173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FA6AA-05D0-17B2-243B-793C68CCA64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76A2B8-6E58-23BB-77F7-D05D6946ACB0}"/>
              </a:ext>
            </a:extLst>
          </p:cNvPr>
          <p:cNvSpPr txBox="1"/>
          <p:nvPr/>
        </p:nvSpPr>
        <p:spPr>
          <a:xfrm>
            <a:off x="693019" y="1366787"/>
            <a:ext cx="539015" cy="369332"/>
          </a:xfrm>
          <a:prstGeom prst="rect">
            <a:avLst/>
          </a:prstGeom>
          <a:noFill/>
        </p:spPr>
        <p:txBody>
          <a:bodyPr wrap="square" rtlCol="0">
            <a:spAutoFit/>
          </a:bodyPr>
          <a:lstStyle/>
          <a:p>
            <a:r>
              <a:rPr lang="en-IN" dirty="0"/>
              <a:t>13.</a:t>
            </a:r>
          </a:p>
        </p:txBody>
      </p:sp>
      <p:sp>
        <p:nvSpPr>
          <p:cNvPr id="5" name="Content Placeholder 2">
            <a:extLst>
              <a:ext uri="{FF2B5EF4-FFF2-40B4-BE49-F238E27FC236}">
                <a16:creationId xmlns:a16="http://schemas.microsoft.com/office/drawing/2014/main" id="{AD3E4A0D-9568-DD80-34C8-B954D99F6B88}"/>
              </a:ext>
            </a:extLst>
          </p:cNvPr>
          <p:cNvSpPr>
            <a:spLocks noGrp="1"/>
          </p:cNvSpPr>
          <p:nvPr>
            <p:ph sz="quarter" idx="10"/>
          </p:nvPr>
        </p:nvSpPr>
        <p:spPr>
          <a:xfrm>
            <a:off x="406400" y="152400"/>
            <a:ext cx="8432800" cy="1143000"/>
          </a:xfrm>
        </p:spPr>
        <p:txBody>
          <a:bodyPr/>
          <a:lstStyle/>
          <a:p>
            <a:r>
              <a:rPr lang="en-IN" dirty="0"/>
              <a:t>Problem:</a:t>
            </a:r>
          </a:p>
        </p:txBody>
      </p:sp>
      <p:sp>
        <p:nvSpPr>
          <p:cNvPr id="6" name="TextBox 5">
            <a:extLst>
              <a:ext uri="{FF2B5EF4-FFF2-40B4-BE49-F238E27FC236}">
                <a16:creationId xmlns:a16="http://schemas.microsoft.com/office/drawing/2014/main" id="{AD985752-EEC7-59DC-1016-F4B71E53A924}"/>
              </a:ext>
            </a:extLst>
          </p:cNvPr>
          <p:cNvSpPr txBox="1"/>
          <p:nvPr/>
        </p:nvSpPr>
        <p:spPr>
          <a:xfrm>
            <a:off x="1164656" y="1366786"/>
            <a:ext cx="8239225" cy="646331"/>
          </a:xfrm>
          <a:prstGeom prst="rect">
            <a:avLst/>
          </a:prstGeom>
          <a:noFill/>
        </p:spPr>
        <p:txBody>
          <a:bodyPr wrap="square" rtlCol="0">
            <a:spAutoFit/>
          </a:bodyPr>
          <a:lstStyle/>
          <a:p>
            <a:r>
              <a:rPr lang="en-IN" dirty="0"/>
              <a:t>Suppose A, B and C are three mutually exclusive events in a sample space. Given that S= AUBUC, P(A) = (1/5)P(B), and P(C)= 4P(A), find P(BUC). </a:t>
            </a:r>
          </a:p>
        </p:txBody>
      </p:sp>
      <p:pic>
        <p:nvPicPr>
          <p:cNvPr id="9" name="Content Placeholder 8">
            <a:extLst>
              <a:ext uri="{FF2B5EF4-FFF2-40B4-BE49-F238E27FC236}">
                <a16:creationId xmlns:a16="http://schemas.microsoft.com/office/drawing/2014/main" id="{EB581C08-4511-9F12-A080-2DD5AC979B67}"/>
              </a:ext>
            </a:extLst>
          </p:cNvPr>
          <p:cNvPicPr>
            <a:picLocks noGrp="1" noChangeAspect="1"/>
          </p:cNvPicPr>
          <p:nvPr>
            <p:ph idx="1"/>
          </p:nvPr>
        </p:nvPicPr>
        <p:blipFill>
          <a:blip r:embed="rId2"/>
          <a:stretch>
            <a:fillRect/>
          </a:stretch>
        </p:blipFill>
        <p:spPr>
          <a:xfrm>
            <a:off x="2128687" y="2801385"/>
            <a:ext cx="7356040" cy="3180990"/>
          </a:xfrm>
          <a:prstGeom prst="rect">
            <a:avLst/>
          </a:prstGeom>
        </p:spPr>
      </p:pic>
      <p:sp>
        <p:nvSpPr>
          <p:cNvPr id="3" name="TextBox 2">
            <a:extLst>
              <a:ext uri="{FF2B5EF4-FFF2-40B4-BE49-F238E27FC236}">
                <a16:creationId xmlns:a16="http://schemas.microsoft.com/office/drawing/2014/main" id="{2BEEFDA2-1D8D-4810-EAA9-9C56F2A7F913}"/>
              </a:ext>
            </a:extLst>
          </p:cNvPr>
          <p:cNvSpPr txBox="1"/>
          <p:nvPr/>
        </p:nvSpPr>
        <p:spPr>
          <a:xfrm>
            <a:off x="1232034" y="2222585"/>
            <a:ext cx="6097604" cy="369332"/>
          </a:xfrm>
          <a:prstGeom prst="rect">
            <a:avLst/>
          </a:prstGeom>
          <a:noFill/>
        </p:spPr>
        <p:txBody>
          <a:bodyPr wrap="square">
            <a:spAutoFit/>
          </a:bodyPr>
          <a:lstStyle/>
          <a:p>
            <a:r>
              <a:rPr lang="en-IN" dirty="0"/>
              <a:t>Solution:</a:t>
            </a:r>
          </a:p>
        </p:txBody>
      </p:sp>
    </p:spTree>
    <p:extLst>
      <p:ext uri="{BB962C8B-B14F-4D97-AF65-F5344CB8AC3E}">
        <p14:creationId xmlns:p14="http://schemas.microsoft.com/office/powerpoint/2010/main" val="156950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71327C-5188-8F77-5DCE-B3018E1EC9DF}"/>
              </a:ext>
            </a:extLst>
          </p:cNvPr>
          <p:cNvSpPr txBox="1"/>
          <p:nvPr/>
        </p:nvSpPr>
        <p:spPr>
          <a:xfrm>
            <a:off x="-295275" y="539090"/>
            <a:ext cx="6096000" cy="837473"/>
          </a:xfrm>
          <a:prstGeom prst="rect">
            <a:avLst/>
          </a:prstGeom>
          <a:noFill/>
        </p:spPr>
        <p:txBody>
          <a:bodyPr wrap="square">
            <a:spAutoFit/>
          </a:bodyPr>
          <a:lstStyle/>
          <a:p>
            <a:pPr lvl="1">
              <a:lnSpc>
                <a:spcPct val="150000"/>
              </a:lnSpc>
            </a:pPr>
            <a:r>
              <a:rPr lang="en-IN" sz="3600" b="1" dirty="0"/>
              <a:t>Practice Problems</a:t>
            </a:r>
          </a:p>
        </p:txBody>
      </p:sp>
      <p:sp>
        <p:nvSpPr>
          <p:cNvPr id="13" name="TextBox 12">
            <a:extLst>
              <a:ext uri="{FF2B5EF4-FFF2-40B4-BE49-F238E27FC236}">
                <a16:creationId xmlns:a16="http://schemas.microsoft.com/office/drawing/2014/main" id="{7860318E-5BC4-0A98-79D4-97931A6E3BD7}"/>
              </a:ext>
            </a:extLst>
          </p:cNvPr>
          <p:cNvSpPr txBox="1"/>
          <p:nvPr/>
        </p:nvSpPr>
        <p:spPr>
          <a:xfrm>
            <a:off x="188118" y="1476834"/>
            <a:ext cx="11851481" cy="2870722"/>
          </a:xfrm>
          <a:prstGeom prst="rect">
            <a:avLst/>
          </a:prstGeom>
          <a:noFill/>
        </p:spPr>
        <p:txBody>
          <a:bodyPr wrap="square">
            <a:spAutoFit/>
          </a:bodyPr>
          <a:lstStyle/>
          <a:p>
            <a:pPr marL="342900" marR="0" indent="-342900" algn="just">
              <a:lnSpc>
                <a:spcPct val="115000"/>
              </a:lnSpc>
              <a:spcBef>
                <a:spcPts val="0"/>
              </a:spcBef>
              <a:spcAft>
                <a:spcPts val="0"/>
              </a:spcAft>
              <a:buAutoNum type="arabicPeriod"/>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lgn="just">
              <a:lnSpc>
                <a:spcPct val="115000"/>
              </a:lnSpc>
              <a:spcBef>
                <a:spcPts val="0"/>
              </a:spcBef>
              <a:spcAft>
                <a:spcPts val="0"/>
              </a:spcAft>
              <a:buAutoNum type="arabicPeriod"/>
            </a:pPr>
            <a:r>
              <a:rPr lang="en-IN" sz="1800" dirty="0">
                <a:effectLst/>
                <a:latin typeface="Calibri" panose="020F0502020204030204" pitchFamily="34" charset="0"/>
                <a:ea typeface="Calibri" panose="020F0502020204030204" pitchFamily="34" charset="0"/>
                <a:cs typeface="Times New Roman" panose="02020603050405020304" pitchFamily="18" charset="0"/>
              </a:rPr>
              <a:t>If P (A) =1/3, P (B) =1/2, P (A/B) = 1/6 find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i</a:t>
            </a:r>
            <a:r>
              <a:rPr lang="en-IN" sz="1800" dirty="0">
                <a:effectLst/>
                <a:latin typeface="Calibri" panose="020F0502020204030204" pitchFamily="34" charset="0"/>
                <a:ea typeface="Calibri" panose="020F0502020204030204" pitchFamily="34" charset="0"/>
                <a:cs typeface="Times New Roman" panose="02020603050405020304" pitchFamily="18" charset="0"/>
              </a:rPr>
              <a:t>). P(B/A) ii). P(B/A’)  </a:t>
            </a:r>
            <a:r>
              <a:rPr lang="en-IN" sz="1800" dirty="0">
                <a:effectLst/>
                <a:latin typeface="Calibri" panose="020F0502020204030204" pitchFamily="34" charset="0"/>
                <a:ea typeface="Times New Roman" panose="02020603050405020304" pitchFamily="18" charset="0"/>
              </a:rPr>
              <a:t>iii).P(AUB / A)  iv).</a:t>
            </a:r>
            <a:r>
              <a:rPr lang="en-IN" sz="1800" dirty="0">
                <a:effectLst/>
                <a:latin typeface="Calibri" panose="020F0502020204030204" pitchFamily="34" charset="0"/>
                <a:ea typeface="Calibri" panose="020F0502020204030204" pitchFamily="34" charset="0"/>
                <a:cs typeface="Times New Roman" panose="02020603050405020304" pitchFamily="18" charset="0"/>
              </a:rPr>
              <a:t>P(B/A) </a:t>
            </a:r>
            <a:r>
              <a:rPr lang="en-IN" dirty="0">
                <a:latin typeface="Times New Roman" panose="02020603050405020304" pitchFamily="18" charset="0"/>
                <a:ea typeface="Calibri" panose="020F0502020204030204" pitchFamily="34" charset="0"/>
                <a:cs typeface="Times New Roman" panose="02020603050405020304" pitchFamily="18" charset="0"/>
              </a:rPr>
              <a:t>.</a:t>
            </a:r>
          </a:p>
          <a:p>
            <a:pPr marR="0" algn="just">
              <a:lnSpc>
                <a:spcPct val="115000"/>
              </a:lnSpc>
              <a:spcBef>
                <a:spcPts val="0"/>
              </a:spcBef>
              <a:spcAft>
                <a:spcPts val="0"/>
              </a:spcAft>
            </a:pP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2.</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Three machines A, B , C produce 50%, 30%, and 20% of the items in a factory</a:t>
            </a:r>
            <a:r>
              <a:rPr lang="en-IN" dirty="0">
                <a:latin typeface="Times New Roman" panose="02020603050405020304" pitchFamily="18" charset="0"/>
                <a:ea typeface="Calibri" panose="020F0502020204030204" pitchFamily="34" charset="0"/>
                <a:cs typeface="Times New Roman" panose="02020603050405020304" pitchFamily="18" charset="0"/>
              </a:rPr>
              <a:t>. The percentage of defective outputs of these machines are 3, 4 and 5 respectively. </a:t>
            </a:r>
          </a:p>
          <a:p>
            <a:pPr marL="400050" marR="0" indent="-400050" algn="just">
              <a:lnSpc>
                <a:spcPct val="150000"/>
              </a:lnSpc>
              <a:spcBef>
                <a:spcPts val="0"/>
              </a:spcBef>
              <a:spcAft>
                <a:spcPts val="800"/>
              </a:spcAft>
              <a:buAutoNum type="romanLcParenBoth"/>
            </a:pPr>
            <a:r>
              <a:rPr lang="en-IN" dirty="0">
                <a:latin typeface="Times New Roman" panose="02020603050405020304" pitchFamily="18" charset="0"/>
                <a:ea typeface="Calibri" panose="020F0502020204030204" pitchFamily="34" charset="0"/>
                <a:cs typeface="Times New Roman" panose="02020603050405020304" pitchFamily="18" charset="0"/>
              </a:rPr>
              <a:t>If an item is selected at random, what is the probability that it is defective?   </a:t>
            </a:r>
            <a:r>
              <a:rPr lang="en-IN"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(Ans: 0.037)</a:t>
            </a:r>
          </a:p>
          <a:p>
            <a:pPr marL="400050" marR="0" indent="-400050" algn="just">
              <a:lnSpc>
                <a:spcPct val="150000"/>
              </a:lnSpc>
              <a:spcBef>
                <a:spcPts val="0"/>
              </a:spcBef>
              <a:spcAft>
                <a:spcPts val="800"/>
              </a:spcAft>
              <a:buAutoNum type="romanLcParenBoth"/>
            </a:pPr>
            <a:r>
              <a:rPr lang="en-IN" dirty="0">
                <a:latin typeface="Times New Roman" panose="02020603050405020304" pitchFamily="18" charset="0"/>
                <a:ea typeface="Calibri" panose="020F0502020204030204" pitchFamily="34" charset="0"/>
                <a:cs typeface="Times New Roman" panose="02020603050405020304" pitchFamily="18" charset="0"/>
              </a:rPr>
              <a:t> If a selected item is defective, what is the probability that it is from machine A?   </a:t>
            </a:r>
            <a:r>
              <a:rPr lang="en-IN"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(Ans: 0.4054)</a:t>
            </a:r>
            <a:endPar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97917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860318E-5BC4-0A98-79D4-97931A6E3BD7}"/>
              </a:ext>
            </a:extLst>
          </p:cNvPr>
          <p:cNvSpPr txBox="1"/>
          <p:nvPr/>
        </p:nvSpPr>
        <p:spPr>
          <a:xfrm>
            <a:off x="188118" y="1476834"/>
            <a:ext cx="11851481" cy="4609403"/>
          </a:xfrm>
          <a:prstGeom prst="rect">
            <a:avLst/>
          </a:prstGeom>
          <a:noFill/>
        </p:spPr>
        <p:txBody>
          <a:bodyPr wrap="square">
            <a:spAutoFit/>
          </a:bodyPr>
          <a:lstStyle/>
          <a:p>
            <a:pPr>
              <a:buNone/>
            </a:pPr>
            <a:r>
              <a:rPr lang="en-US" sz="1700" dirty="0">
                <a:latin typeface="Times New Roman" panose="02020603050405020304" pitchFamily="18" charset="0"/>
                <a:ea typeface="Calibri" panose="020F0502020204030204" pitchFamily="34" charset="0"/>
                <a:cs typeface="Times New Roman" panose="02020603050405020304" pitchFamily="18" charset="0"/>
              </a:rPr>
              <a:t>3</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A weather app predicts rain with 90% accuracy when it actually rains. It wrongly predicts rain 10% of the time when it doesn't rain. Suppose it rains only 10% of days in a year. You check the app and it predicts rain.</a:t>
            </a:r>
          </a:p>
          <a:p>
            <a:r>
              <a:rPr lang="en-US" sz="1700" dirty="0">
                <a:latin typeface="Times New Roman" panose="02020603050405020304" pitchFamily="18" charset="0"/>
                <a:cs typeface="Times New Roman" panose="02020603050405020304" pitchFamily="18" charset="0"/>
              </a:rPr>
              <a:t>What is the probability it will actually rain?   </a:t>
            </a:r>
            <a:r>
              <a:rPr lang="en-US" sz="1700" dirty="0">
                <a:solidFill>
                  <a:srgbClr val="FF0000"/>
                </a:solidFill>
                <a:latin typeface="Times New Roman" panose="02020603050405020304" pitchFamily="18" charset="0"/>
                <a:cs typeface="Times New Roman" panose="02020603050405020304" pitchFamily="18" charset="0"/>
              </a:rPr>
              <a:t>(Ans: 0.5)</a:t>
            </a:r>
          </a:p>
          <a:p>
            <a:pPr marL="0" marR="0" algn="just">
              <a:lnSpc>
                <a:spcPct val="150000"/>
              </a:lnSpc>
              <a:spcBef>
                <a:spcPts val="0"/>
              </a:spcBef>
              <a:spcAft>
                <a:spcPts val="800"/>
              </a:spcAft>
            </a:pPr>
            <a:endParaRPr lang="en-IN" sz="17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Bef>
                <a:spcPts val="0"/>
              </a:spcBef>
              <a:spcAft>
                <a:spcPts val="800"/>
              </a:spcAft>
            </a:pPr>
            <a:r>
              <a:rPr lang="en-IN" sz="1700" dirty="0">
                <a:latin typeface="Times New Roman" panose="02020603050405020304" pitchFamily="18" charset="0"/>
                <a:ea typeface="Calibri" panose="020F0502020204030204" pitchFamily="34" charset="0"/>
                <a:cs typeface="Times New Roman" panose="02020603050405020304" pitchFamily="18" charset="0"/>
              </a:rPr>
              <a:t>4</a:t>
            </a:r>
            <a:r>
              <a:rPr lang="en-IN" sz="1700" dirty="0">
                <a:effectLst/>
                <a:latin typeface="Times New Roman" panose="02020603050405020304" pitchFamily="18" charset="0"/>
                <a:ea typeface="Calibri" panose="020F0502020204030204" pitchFamily="34" charset="0"/>
                <a:cs typeface="Times New Roman" panose="02020603050405020304" pitchFamily="18" charset="0"/>
              </a:rPr>
              <a:t>. Consider the following data related to the employees, who are on travel. 40% check work email, 20% use cell phone to stay connected to work, 25% bring laptop with them, 23% check both work email and use cell phone to stay connected, and 50% neither check work email nor use a cell phone to stay connected nor bring a laptop. In addition, 88 out of every 100 who bring a laptop also check work email, and 70 out of every 100 who use a cell phone to stay connected also bring a laptop.</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IN" sz="17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IN" sz="1700" dirty="0">
                <a:effectLst/>
                <a:latin typeface="Times New Roman" panose="02020603050405020304" pitchFamily="18" charset="0"/>
                <a:ea typeface="Calibri" panose="020F0502020204030204" pitchFamily="34" charset="0"/>
                <a:cs typeface="Times New Roman" panose="02020603050405020304" pitchFamily="18" charset="0"/>
              </a:rPr>
              <a:t>) What is the probability that a randomly selected traveller who checks work email also uses a cell phone to stay connected?</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IN" sz="1700" dirty="0">
                <a:effectLst/>
                <a:latin typeface="Times New Roman" panose="02020603050405020304" pitchFamily="18" charset="0"/>
                <a:ea typeface="Calibri" panose="020F0502020204030204" pitchFamily="34" charset="0"/>
                <a:cs typeface="Times New Roman" panose="02020603050405020304" pitchFamily="18" charset="0"/>
              </a:rPr>
              <a:t>ii) What is the probability that someone who brings a laptop on vacation also uses a cell phone to stay connected?</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1700" dirty="0">
                <a:effectLst/>
                <a:latin typeface="Times New Roman" panose="02020603050405020304" pitchFamily="18" charset="0"/>
                <a:ea typeface="Calibri" panose="020F0502020204030204" pitchFamily="34" charset="0"/>
                <a:cs typeface="Times New Roman" panose="02020603050405020304" pitchFamily="18" charset="0"/>
              </a:rPr>
              <a:t>iii) If the randomly selected traveller checked work email and brought a laptop, what is the probability that he/she uses a cell phone to stay connected? </a:t>
            </a:r>
          </a:p>
          <a:p>
            <a:pPr marR="0" algn="just">
              <a:lnSpc>
                <a:spcPct val="115000"/>
              </a:lnSpc>
              <a:spcBef>
                <a:spcPts val="0"/>
              </a:spcBef>
              <a:spcAft>
                <a:spcPts val="0"/>
              </a:spcAft>
            </a:pPr>
            <a:r>
              <a:rPr lang="en-IN" sz="17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82C27CD6-4C5F-ADE5-6F4C-ED70115B1134}"/>
              </a:ext>
            </a:extLst>
          </p:cNvPr>
          <p:cNvSpPr txBox="1"/>
          <p:nvPr/>
        </p:nvSpPr>
        <p:spPr>
          <a:xfrm>
            <a:off x="-295275" y="539090"/>
            <a:ext cx="6096000" cy="837473"/>
          </a:xfrm>
          <a:prstGeom prst="rect">
            <a:avLst/>
          </a:prstGeom>
          <a:noFill/>
        </p:spPr>
        <p:txBody>
          <a:bodyPr wrap="square">
            <a:spAutoFit/>
          </a:bodyPr>
          <a:lstStyle/>
          <a:p>
            <a:pPr lvl="1">
              <a:lnSpc>
                <a:spcPct val="150000"/>
              </a:lnSpc>
            </a:pPr>
            <a:r>
              <a:rPr lang="en-IN" sz="3600" b="1" dirty="0"/>
              <a:t>Practice Problems</a:t>
            </a:r>
          </a:p>
        </p:txBody>
      </p:sp>
    </p:spTree>
    <p:extLst>
      <p:ext uri="{BB962C8B-B14F-4D97-AF65-F5344CB8AC3E}">
        <p14:creationId xmlns:p14="http://schemas.microsoft.com/office/powerpoint/2010/main" val="2886455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DB6674-F675-6EE5-899E-57F45FC1F0EF}"/>
              </a:ext>
            </a:extLst>
          </p:cNvPr>
          <p:cNvSpPr>
            <a:spLocks noGrp="1"/>
          </p:cNvSpPr>
          <p:nvPr>
            <p:ph sz="quarter" idx="10"/>
          </p:nvPr>
        </p:nvSpPr>
        <p:spPr/>
        <p:txBody>
          <a:bodyPr/>
          <a:lstStyle/>
          <a:p>
            <a:pPr algn="ctr"/>
            <a:r>
              <a:rPr lang="en-IN" dirty="0"/>
              <a:t>Questions please…</a:t>
            </a:r>
          </a:p>
        </p:txBody>
      </p:sp>
      <p:pic>
        <p:nvPicPr>
          <p:cNvPr id="1026" name="Picture 2">
            <a:extLst>
              <a:ext uri="{FF2B5EF4-FFF2-40B4-BE49-F238E27FC236}">
                <a16:creationId xmlns:a16="http://schemas.microsoft.com/office/drawing/2014/main" id="{857301ED-CF37-5126-C14A-DEC2B45199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12060" y="1493838"/>
            <a:ext cx="5761479" cy="452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0599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F383E1-515B-98B5-88CC-B07687397601}"/>
              </a:ext>
            </a:extLst>
          </p:cNvPr>
          <p:cNvSpPr>
            <a:spLocks noGrp="1"/>
          </p:cNvSpPr>
          <p:nvPr>
            <p:ph sz="quarter" idx="10"/>
          </p:nvPr>
        </p:nvSpPr>
        <p:spPr/>
        <p:txBody>
          <a:bodyPr/>
          <a:lstStyle/>
          <a:p>
            <a:endParaRPr lang="en-IN"/>
          </a:p>
        </p:txBody>
      </p:sp>
      <p:sp>
        <p:nvSpPr>
          <p:cNvPr id="4" name="Title 1"/>
          <p:cNvSpPr>
            <a:spLocks noGrp="1"/>
          </p:cNvSpPr>
          <p:nvPr>
            <p:ph idx="1"/>
          </p:nvPr>
        </p:nvSpPr>
        <p:spPr>
          <a:xfrm>
            <a:off x="213894" y="1493838"/>
            <a:ext cx="10972800" cy="4525962"/>
          </a:xfrm>
        </p:spPr>
        <p:txBody>
          <a:bodyPr>
            <a:noAutofit/>
          </a:bodyPr>
          <a:lstStyle/>
          <a:p>
            <a:pPr algn="ctr"/>
            <a:br>
              <a:rPr lang="en-IN" sz="4500" dirty="0">
                <a:solidFill>
                  <a:srgbClr val="00B050"/>
                </a:solidFill>
                <a:latin typeface="Arial Black" pitchFamily="34" charset="0"/>
              </a:rPr>
            </a:br>
            <a:endParaRPr lang="en-IN" sz="4500" dirty="0">
              <a:solidFill>
                <a:srgbClr val="00B050"/>
              </a:solidFill>
              <a:latin typeface="Arial Black" pitchFamily="34" charset="0"/>
            </a:endParaRPr>
          </a:p>
          <a:p>
            <a:pPr algn="ctr"/>
            <a:r>
              <a:rPr lang="en-IN" sz="4500" dirty="0">
                <a:solidFill>
                  <a:srgbClr val="00B050"/>
                </a:solidFill>
                <a:latin typeface="Arial Black" pitchFamily="34" charset="0"/>
              </a:rPr>
              <a:t>THANK YOU!</a:t>
            </a:r>
            <a:br>
              <a:rPr lang="en-IN" sz="4500" dirty="0">
                <a:solidFill>
                  <a:srgbClr val="00B050"/>
                </a:solidFill>
                <a:latin typeface="Arial Black" pitchFamily="34" charset="0"/>
              </a:rPr>
            </a:br>
            <a:endParaRPr lang="en-IN" sz="4500" dirty="0">
              <a:solidFill>
                <a:srgbClr val="00B050"/>
              </a:solidFill>
              <a:latin typeface="Arial Black" pitchFamily="34" charset="0"/>
            </a:endParaRPr>
          </a:p>
        </p:txBody>
      </p:sp>
    </p:spTree>
    <p:extLst>
      <p:ext uri="{BB962C8B-B14F-4D97-AF65-F5344CB8AC3E}">
        <p14:creationId xmlns:p14="http://schemas.microsoft.com/office/powerpoint/2010/main" val="168370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4572</TotalTime>
  <Words>2154</Words>
  <Application>Microsoft Office PowerPoint</Application>
  <PresentationFormat>Widescreen</PresentationFormat>
  <Paragraphs>174</Paragraphs>
  <Slides>41</Slides>
  <Notes>0</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41</vt:i4>
      </vt:variant>
    </vt:vector>
  </HeadingPairs>
  <TitlesOfParts>
    <vt:vector size="57" baseType="lpstr">
      <vt:lpstr>arial</vt:lpstr>
      <vt:lpstr>arial</vt:lpstr>
      <vt:lpstr>Arial Black</vt:lpstr>
      <vt:lpstr>Calibri</vt:lpstr>
      <vt:lpstr>Calibri Light</vt:lpstr>
      <vt:lpstr>Cambria Math</vt:lpstr>
      <vt:lpstr>Courier New</vt:lpstr>
      <vt:lpstr>din</vt:lpstr>
      <vt:lpstr>Google Sans</vt:lpstr>
      <vt:lpstr>Helvetica LT Std Cond Light</vt:lpstr>
      <vt:lpstr>Times New Roman</vt:lpstr>
      <vt:lpstr>Verdana</vt:lpstr>
      <vt:lpstr>Wingdings</vt:lpstr>
      <vt:lpstr>Office Theme</vt:lpstr>
      <vt:lpstr>3_Office Theme</vt:lpstr>
      <vt:lpstr>Bitmap Image</vt:lpstr>
      <vt:lpstr>Introduction to Statistical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Foundations for Data Science</dc:title>
  <dc:creator>ARK</dc:creator>
  <cp:lastModifiedBy>Ajay Saxena</cp:lastModifiedBy>
  <cp:revision>392</cp:revision>
  <dcterms:created xsi:type="dcterms:W3CDTF">2020-05-04T17:15:40Z</dcterms:created>
  <dcterms:modified xsi:type="dcterms:W3CDTF">2026-08-26T13:25:14Z</dcterms:modified>
</cp:coreProperties>
</file>