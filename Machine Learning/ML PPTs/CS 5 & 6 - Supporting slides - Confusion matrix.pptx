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084F-760A-2B9A-D59A-21DE61607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1C3FA-D8DA-484E-2842-0DBB9621B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F1C6-FF4D-22ED-89B5-D7B2BFB6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BF26-46CD-0570-C8D2-3E33DEFC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2C1E8-9554-5600-9517-77F19F1F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464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31C0-8883-98E2-8C98-ED9F8C2F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EDA7E-AA0C-2182-EC13-76511EC3F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0FF5E-D3A0-E6EE-48C9-30F4EFF6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97A14-3D8E-B877-8DCA-81F44B92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BC393-8983-EA07-066A-8FD803FD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913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A79E-6D20-54AA-86EF-90C71623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98F9D-A6A3-1699-A8D9-E8297E883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FD9DD-C7B8-F16B-8461-105A19FF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ACF1F-3601-E805-BA20-40E98F27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7ED55-3420-9619-22FB-85C8102C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854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6849-8B9C-34BE-DF5C-0D3F2352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8A53-3D49-3F51-6921-50E48EAD5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8FC39-E805-9A97-1B4C-6DB9B7736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FD6E-8F2B-DB61-9B12-0B5C24E1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DC938-3D6C-0DB4-F9EC-BE9852CE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8A7C3-C989-C5AF-C32C-3E68680C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796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7E9B-4573-A880-5120-78C8326B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141F-3FBD-5922-4386-82EAAAC51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82989-D1E7-B2FC-6D76-BD1D09F2F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AB83E-5E93-55F9-33E4-2A9EF9562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C6B1B-0D21-C6BD-D120-928EC8757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E1BDC-15B9-1907-14DF-D12CBFC04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481D2-B75D-3B7E-DDD7-FC563365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A399F-8E57-40E0-F5CD-C31F91B8D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13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7EC9-4DB9-658B-1172-89897EBC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0E338-9A74-51B1-2401-F3798879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95A28-9AE7-CF54-8CB8-36A6E3CE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27CA3-03C3-2CD9-7661-F95F126C1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4393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03D9C-1AA4-43CA-F371-06F76428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8190F-F408-C495-CDF5-1AC4337F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F8DB9-05BD-C337-0C1F-E0D5F19BF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2158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8C47-8DE8-FA61-B9CB-4920DFFD3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56A5-FDD8-98D4-6350-FF8ECDC9F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5EE50-948B-A5CB-348A-2333A747A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7EE93-4A05-BC6D-A86E-75CC1FB4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12C83-8E98-E2D7-0172-18F9B4ED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8054E-A197-F480-9520-76E8E08C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003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3BA5-0F53-93C5-CA74-513FA6324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2407AC-20B5-2042-B08A-6E75F7602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6A03AD-0F28-DA29-E6C6-1CE4387E3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8CE9C-12B9-F650-6B60-01B094E3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8885F-1331-A2BB-02E1-B00ECC5F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04553-0F75-0AEA-2344-639AC4BE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989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4931-6901-7CB0-D78D-3E73873E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46D7C-4A86-B80D-41ED-1D827A419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9351-5651-66DD-4990-7D815CDC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E4949-A924-CA89-3B08-C33EB058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2D3B5-C92E-BB3A-B094-1204A500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98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C4670-C21B-E825-1FB9-3552F247B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70E6C-2DF9-FFBF-4EAD-A59A38006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6ACA8-93D8-D77D-57B4-8A190CA46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9782-B98C-12B8-330A-8C7CC7D3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8F59-1A73-BBA7-8D22-64193C69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133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AAD00-CD59-BB4A-CB81-7B062A39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6F5D8-0006-5F88-16C7-D1BE5BBEC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A1E9D-FD16-B2C8-B2C4-976AD123D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0371A-D680-4DCF-8963-09B826A65F03}" type="datetimeFigureOut">
              <a:rPr lang="en-SG" smtClean="0"/>
              <a:t>23/8/2026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528E-6EE5-FC03-4EB6-CB3AF32DD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787FB-2905-39D4-400D-553A8B118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F7182-8462-4CEC-8EF7-666069BE5A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899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B9DE4C-393A-DAA3-879E-092883C25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847358"/>
              </p:ext>
            </p:extLst>
          </p:nvPr>
        </p:nvGraphicFramePr>
        <p:xfrm>
          <a:off x="413658" y="624545"/>
          <a:ext cx="10515600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943102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16813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464536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44640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Actual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Predicted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Predicted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341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/>
                        <a:t>Yes (Cancer)</a:t>
                      </a:r>
                      <a:endParaRPr lang="en-SG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(TP) 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(FN) 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07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/>
                        <a:t>No (No Cancer)</a:t>
                      </a:r>
                      <a:endParaRPr lang="en-SG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(FP) 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(TN) 9560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9700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514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/>
                        <a:t>Total</a:t>
                      </a:r>
                      <a:endParaRPr lang="en-SG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230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/>
                        <a:t>9770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dirty="0"/>
                        <a:t>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4468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0E1E4B-D985-065F-877D-96E5493BD223}"/>
              </a:ext>
            </a:extLst>
          </p:cNvPr>
          <p:cNvSpPr txBox="1"/>
          <p:nvPr/>
        </p:nvSpPr>
        <p:spPr>
          <a:xfrm>
            <a:off x="413658" y="2769552"/>
            <a:ext cx="8055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dirty="0"/>
              <a:t>Assume </a:t>
            </a:r>
            <a:r>
              <a:rPr lang="en-SG" sz="2400" b="1" dirty="0"/>
              <a:t>“Yes” = Cancer (positive class)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Therefore: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398708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7EBD12-C2F4-96A6-1366-C045B9509F3F}"/>
              </a:ext>
            </a:extLst>
          </p:cNvPr>
          <p:cNvSpPr txBox="1"/>
          <p:nvPr/>
        </p:nvSpPr>
        <p:spPr>
          <a:xfrm>
            <a:off x="163285" y="196840"/>
            <a:ext cx="115606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A. Precision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b="1" dirty="0"/>
              <a:t>Of all patients predicted as having cancer, how many actually have cancer?</a:t>
            </a:r>
            <a:endParaRPr lang="en-SG" sz="2400" dirty="0"/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Formula:</a:t>
            </a:r>
          </a:p>
          <a:p>
            <a:pPr>
              <a:buNone/>
            </a:pPr>
            <a:r>
              <a:rPr lang="en-SG" sz="2400" dirty="0"/>
              <a:t>Precision=TP/(FP+TP)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Precision=90/(140+90)​ =90/230</a:t>
            </a:r>
          </a:p>
          <a:p>
            <a:pPr>
              <a:buNone/>
            </a:pPr>
            <a:r>
              <a:rPr lang="en-SG" sz="2400" dirty="0"/>
              <a:t> Precision=0.3913=39.13%​ 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b="1" dirty="0"/>
              <a:t>Interpretation</a:t>
            </a:r>
          </a:p>
          <a:p>
            <a:pPr>
              <a:buNone/>
            </a:pPr>
            <a:r>
              <a:rPr lang="en-SG" sz="2400" dirty="0"/>
              <a:t>The classifier predicts </a:t>
            </a:r>
            <a:r>
              <a:rPr lang="en-SG" sz="2400" b="1" dirty="0"/>
              <a:t>230 patients as cancer-positive</a:t>
            </a:r>
            <a:r>
              <a:rPr lang="en-SG" sz="2400" dirty="0"/>
              <a:t>, but only </a:t>
            </a:r>
            <a:r>
              <a:rPr lang="en-SG" sz="2400" b="1" dirty="0"/>
              <a:t>90 actually have cancer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So, only </a:t>
            </a:r>
            <a:r>
              <a:rPr lang="en-SG" sz="2400" b="1" dirty="0"/>
              <a:t>39.13% of positive predictions are correct</a:t>
            </a:r>
            <a:r>
              <a:rPr lang="en-SG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365DF-A1CF-CF34-2AC5-3138671D62EB}"/>
              </a:ext>
            </a:extLst>
          </p:cNvPr>
          <p:cNvSpPr txBox="1"/>
          <p:nvPr/>
        </p:nvSpPr>
        <p:spPr>
          <a:xfrm>
            <a:off x="3516085" y="5090487"/>
            <a:ext cx="88718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3202664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07217-AB61-DD68-DDA4-5CEE5EE951AB}"/>
              </a:ext>
            </a:extLst>
          </p:cNvPr>
          <p:cNvSpPr txBox="1"/>
          <p:nvPr/>
        </p:nvSpPr>
        <p:spPr>
          <a:xfrm>
            <a:off x="152399" y="325627"/>
            <a:ext cx="1152797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B. Recall / Sensitivity / True Positive Rate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b="1" dirty="0"/>
              <a:t>Of all patients who actually have cancer, how many were correctly detected?</a:t>
            </a:r>
            <a:endParaRPr lang="en-SG" sz="2400" dirty="0"/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Formula:</a:t>
            </a:r>
          </a:p>
          <a:p>
            <a:pPr>
              <a:buNone/>
            </a:pPr>
            <a:r>
              <a:rPr lang="en-SG" sz="2400" dirty="0"/>
              <a:t>Recall=TP/(TP+FN)​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Recall=90/90+210​ =90/300​</a:t>
            </a:r>
          </a:p>
          <a:p>
            <a:pPr>
              <a:buNone/>
            </a:pPr>
            <a:r>
              <a:rPr lang="en-SG" sz="2400" dirty="0"/>
              <a:t>Recall=0.30=30%​ 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b="1" dirty="0"/>
              <a:t>Interpretation</a:t>
            </a:r>
          </a:p>
          <a:p>
            <a:pPr>
              <a:buNone/>
            </a:pPr>
            <a:r>
              <a:rPr lang="en-SG" sz="2400" dirty="0"/>
              <a:t>There are </a:t>
            </a:r>
            <a:r>
              <a:rPr lang="en-SG" sz="2400" b="1" dirty="0"/>
              <a:t>300 actual cancer patients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The classifier detects only </a:t>
            </a:r>
            <a:r>
              <a:rPr lang="en-SG" sz="2400" b="1" dirty="0"/>
              <a:t>90</a:t>
            </a:r>
            <a:r>
              <a:rPr lang="en-SG" sz="2400" dirty="0"/>
              <a:t> of them.</a:t>
            </a:r>
          </a:p>
          <a:p>
            <a:pPr>
              <a:buNone/>
            </a:pPr>
            <a:r>
              <a:rPr lang="en-SG" sz="2400" dirty="0"/>
              <a:t>Therefore:</a:t>
            </a:r>
          </a:p>
          <a:p>
            <a:pPr>
              <a:buNone/>
            </a:pPr>
            <a:r>
              <a:rPr lang="en-SG" sz="2400" dirty="0"/>
              <a:t>300−90=210 cancer patients are </a:t>
            </a:r>
            <a:r>
              <a:rPr lang="en-SG" sz="2400" b="1" dirty="0"/>
              <a:t>missed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So the model has a very poor recall of </a:t>
            </a:r>
            <a:r>
              <a:rPr lang="en-SG" sz="2400" b="1" dirty="0"/>
              <a:t>30%</a:t>
            </a:r>
            <a:r>
              <a:rPr lang="en-SG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24D0E-BC81-C4FF-E8D0-2481A2CADFEC}"/>
              </a:ext>
            </a:extLst>
          </p:cNvPr>
          <p:cNvSpPr txBox="1"/>
          <p:nvPr/>
        </p:nvSpPr>
        <p:spPr>
          <a:xfrm>
            <a:off x="5377542" y="3686229"/>
            <a:ext cx="88718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136286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67CDC-473D-CCD8-2B88-2302747822C4}"/>
              </a:ext>
            </a:extLst>
          </p:cNvPr>
          <p:cNvSpPr txBox="1"/>
          <p:nvPr/>
        </p:nvSpPr>
        <p:spPr>
          <a:xfrm>
            <a:off x="152400" y="161168"/>
            <a:ext cx="869768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C. F1-Score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dirty="0"/>
              <a:t>F1-score combines </a:t>
            </a:r>
            <a:r>
              <a:rPr lang="en-SG" sz="2400" b="1" dirty="0"/>
              <a:t>precision and recall</a:t>
            </a:r>
            <a:r>
              <a:rPr lang="en-SG" sz="2400" dirty="0"/>
              <a:t>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Formula:</a:t>
            </a:r>
          </a:p>
          <a:p>
            <a:pPr>
              <a:buNone/>
            </a:pPr>
            <a:r>
              <a:rPr lang="en-SG" sz="2400" dirty="0"/>
              <a:t>F1=2×Precision * Recall / Precision + Recall​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Precision=0.3913 Recall=0.30 </a:t>
            </a:r>
          </a:p>
          <a:p>
            <a:pPr>
              <a:buNone/>
            </a:pPr>
            <a:r>
              <a:rPr lang="en-SG" sz="2400" dirty="0"/>
              <a:t>Therefore:</a:t>
            </a:r>
          </a:p>
          <a:p>
            <a:pPr>
              <a:buNone/>
            </a:pPr>
            <a:r>
              <a:rPr lang="en-SG" sz="2400" dirty="0"/>
              <a:t>F1=2 * (0.3913 * 0.300) / (0.3913 + 0.30)​</a:t>
            </a:r>
          </a:p>
          <a:p>
            <a:pPr>
              <a:buNone/>
            </a:pPr>
            <a:r>
              <a:rPr lang="en-SG" sz="2400" dirty="0"/>
              <a:t>F1=2 * 0.6913/0.11739​ </a:t>
            </a:r>
          </a:p>
          <a:p>
            <a:pPr>
              <a:buNone/>
            </a:pPr>
            <a:r>
              <a:rPr lang="en-SG" sz="2400" dirty="0"/>
              <a:t>F1≈0.3397=33.97%​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So:</a:t>
            </a:r>
          </a:p>
          <a:p>
            <a:pPr>
              <a:buNone/>
            </a:pPr>
            <a:r>
              <a:rPr lang="en-SG" sz="2400" dirty="0"/>
              <a:t>F1≈33.97%​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D36C9-291F-446B-5265-8726891F0574}"/>
              </a:ext>
            </a:extLst>
          </p:cNvPr>
          <p:cNvSpPr txBox="1"/>
          <p:nvPr/>
        </p:nvSpPr>
        <p:spPr>
          <a:xfrm>
            <a:off x="5377542" y="4284945"/>
            <a:ext cx="88718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2208053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6DF7D-E66D-1726-4D7E-0CE2ADC2C208}"/>
              </a:ext>
            </a:extLst>
          </p:cNvPr>
          <p:cNvSpPr txBox="1"/>
          <p:nvPr/>
        </p:nvSpPr>
        <p:spPr>
          <a:xfrm>
            <a:off x="195942" y="185954"/>
            <a:ext cx="101345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D. Error Rate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b="1" dirty="0"/>
              <a:t>What percentage of all predictions are incorrect?</a:t>
            </a:r>
            <a:endParaRPr lang="en-SG" sz="2400" dirty="0"/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Incorrect predictions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dirty="0"/>
              <a:t>False Positives = 140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dirty="0"/>
              <a:t>False Negatives = 210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Errors=FP+FN =140+210=350 </a:t>
            </a:r>
          </a:p>
          <a:p>
            <a:pPr>
              <a:buNone/>
            </a:pPr>
            <a:r>
              <a:rPr lang="en-SG" sz="2400" dirty="0"/>
              <a:t>Total observations = 10,000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Hence:</a:t>
            </a:r>
          </a:p>
          <a:p>
            <a:pPr>
              <a:buNone/>
            </a:pPr>
            <a:r>
              <a:rPr lang="en-SG" sz="2400" dirty="0"/>
              <a:t>Error Rate=(FP+FN) / Total observations​ = 350/10000 = 0.035 = 3.5%​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CE3C5-9EA2-12D5-1DF0-35A3D7CA9682}"/>
              </a:ext>
            </a:extLst>
          </p:cNvPr>
          <p:cNvSpPr txBox="1"/>
          <p:nvPr/>
        </p:nvSpPr>
        <p:spPr>
          <a:xfrm>
            <a:off x="4942114" y="1541744"/>
            <a:ext cx="88718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242092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64D5C-9FC5-510C-0BCF-DDBDB74388AF}"/>
              </a:ext>
            </a:extLst>
          </p:cNvPr>
          <p:cNvSpPr txBox="1"/>
          <p:nvPr/>
        </p:nvSpPr>
        <p:spPr>
          <a:xfrm>
            <a:off x="87085" y="383739"/>
            <a:ext cx="11854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E. Accuracy — useful to compare</a:t>
            </a:r>
            <a:endParaRPr lang="en-SG" sz="2400" dirty="0"/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Accuracy = (TP+TN)/Total​ observations = 90+9650 / 10000 = 9650/10000 = 96.5%​ </a:t>
            </a:r>
          </a:p>
          <a:p>
            <a:pPr>
              <a:buNone/>
            </a:pP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D70B2-0424-B194-819B-FD7146855FE1}"/>
              </a:ext>
            </a:extLst>
          </p:cNvPr>
          <p:cNvSpPr txBox="1"/>
          <p:nvPr/>
        </p:nvSpPr>
        <p:spPr>
          <a:xfrm>
            <a:off x="5377542" y="3686229"/>
            <a:ext cx="88718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TP = 90</a:t>
            </a:r>
            <a:r>
              <a:rPr lang="en-SG" sz="2400" dirty="0"/>
              <a:t> → Actual cancer and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FN = 210</a:t>
            </a:r>
            <a:r>
              <a:rPr lang="en-SG" sz="2400" dirty="0"/>
              <a:t> → Actual cancer but predicted no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FP = 140</a:t>
            </a:r>
            <a:r>
              <a:rPr lang="en-SG" sz="2400" dirty="0"/>
              <a:t> → No cancer but predicted cancer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TN = 9560</a:t>
            </a:r>
            <a:r>
              <a:rPr lang="en-SG" sz="2400" dirty="0"/>
              <a:t> → No cancer and predicted no cancer</a:t>
            </a:r>
          </a:p>
        </p:txBody>
      </p:sp>
    </p:spTree>
    <p:extLst>
      <p:ext uri="{BB962C8B-B14F-4D97-AF65-F5344CB8AC3E}">
        <p14:creationId xmlns:p14="http://schemas.microsoft.com/office/powerpoint/2010/main" val="352392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0ACD1-0EE0-4D75-CC24-E45C839FA175}"/>
              </a:ext>
            </a:extLst>
          </p:cNvPr>
          <p:cNvSpPr txBox="1"/>
          <p:nvPr/>
        </p:nvSpPr>
        <p:spPr>
          <a:xfrm>
            <a:off x="0" y="282084"/>
            <a:ext cx="1172391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When is Precision preferred over Recall?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dirty="0"/>
              <a:t>Precision is preferred when </a:t>
            </a:r>
            <a:r>
              <a:rPr lang="en-SG" sz="2400" b="1" dirty="0"/>
              <a:t>false positives are more costly than false negatives</a:t>
            </a:r>
            <a:r>
              <a:rPr lang="en-SG" sz="2400" dirty="0"/>
              <a:t>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We want to make sure that when the model says </a:t>
            </a:r>
            <a:r>
              <a:rPr lang="en-SG" sz="2400" b="1" dirty="0"/>
              <a:t>“Positive”</a:t>
            </a:r>
            <a:r>
              <a:rPr lang="en-SG" sz="2400" dirty="0"/>
              <a:t>, it is very likely to be correct.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b="1" dirty="0"/>
              <a:t>Example: Spam email detection</a:t>
            </a:r>
          </a:p>
          <a:p>
            <a:pPr>
              <a:buNone/>
            </a:pPr>
            <a:r>
              <a:rPr lang="en-SG" sz="2400" dirty="0"/>
              <a:t>Suppose an email classifier identifies emails as </a:t>
            </a:r>
            <a:r>
              <a:rPr lang="en-SG" sz="2400" b="1" dirty="0"/>
              <a:t>spam</a:t>
            </a:r>
            <a:r>
              <a:rPr lang="en-SG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Positive = Spam</a:t>
            </a:r>
            <a:r>
              <a:rPr lang="en-SG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b="1" dirty="0"/>
              <a:t>Negative = Genuine email</a:t>
            </a:r>
            <a:r>
              <a:rPr lang="en-SG" sz="2400" dirty="0"/>
              <a:t> </a:t>
            </a:r>
          </a:p>
          <a:p>
            <a:pPr>
              <a:buNone/>
            </a:pPr>
            <a:r>
              <a:rPr lang="en-SG" sz="2400" dirty="0"/>
              <a:t>A </a:t>
            </a:r>
            <a:r>
              <a:rPr lang="en-SG" sz="2400" b="1" dirty="0"/>
              <a:t>false positive</a:t>
            </a:r>
            <a:r>
              <a:rPr lang="en-SG" sz="2400" dirty="0"/>
              <a:t> means: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A genuine email is incorrectly classified as spam.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This can be problematic if an important email is sent to the spam folder.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Therefore, we want </a:t>
            </a:r>
            <a:r>
              <a:rPr lang="en-SG" sz="2400" b="1" dirty="0"/>
              <a:t>high precision</a:t>
            </a:r>
            <a:r>
              <a:rPr lang="en-S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461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3906C1-4704-B50D-46B9-31E9ED2B4D4E}"/>
              </a:ext>
            </a:extLst>
          </p:cNvPr>
          <p:cNvSpPr txBox="1"/>
          <p:nvPr/>
        </p:nvSpPr>
        <p:spPr>
          <a:xfrm>
            <a:off x="468086" y="197346"/>
            <a:ext cx="114082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b="1" dirty="0"/>
              <a:t>When is Recall preferred over Precision?</a:t>
            </a:r>
          </a:p>
          <a:p>
            <a:pPr>
              <a:buNone/>
            </a:pPr>
            <a:r>
              <a:rPr lang="en-SG" sz="2400" dirty="0"/>
              <a:t>Recall is preferred when </a:t>
            </a:r>
            <a:r>
              <a:rPr lang="en-SG" sz="2400" b="1" dirty="0"/>
              <a:t>false negatives are more costly than false positives</a:t>
            </a:r>
            <a:r>
              <a:rPr lang="en-SG" sz="2400" dirty="0"/>
              <a:t>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b="1" dirty="0"/>
              <a:t>Of all the actual positive cases, how many did we successfully detect?</a:t>
            </a:r>
            <a:endParaRPr lang="en-SG" sz="2400" dirty="0"/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b="1" dirty="0"/>
              <a:t>Example: Cancer screening</a:t>
            </a:r>
          </a:p>
          <a:p>
            <a:pPr>
              <a:buNone/>
            </a:pPr>
            <a:r>
              <a:rPr lang="en-SG" sz="2400" dirty="0"/>
              <a:t>This is particularly important for the given example.</a:t>
            </a:r>
          </a:p>
          <a:p>
            <a:pPr>
              <a:buNone/>
            </a:pPr>
            <a:r>
              <a:rPr lang="en-SG" sz="2400" dirty="0"/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dirty="0"/>
              <a:t>Positive = </a:t>
            </a:r>
            <a:r>
              <a:rPr lang="en-SG" sz="2400" b="1" dirty="0"/>
              <a:t>Cancer</a:t>
            </a:r>
            <a:r>
              <a:rPr lang="en-SG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2400" dirty="0"/>
              <a:t>Negative = </a:t>
            </a:r>
            <a:r>
              <a:rPr lang="en-SG" sz="2400" b="1" dirty="0"/>
              <a:t>No cancer</a:t>
            </a:r>
            <a:r>
              <a:rPr lang="en-SG" sz="2400" dirty="0"/>
              <a:t> </a:t>
            </a:r>
          </a:p>
          <a:p>
            <a:pPr>
              <a:buNone/>
            </a:pPr>
            <a:r>
              <a:rPr lang="en-SG" sz="2400" dirty="0"/>
              <a:t>A </a:t>
            </a:r>
            <a:r>
              <a:rPr lang="en-SG" sz="2400" b="1" dirty="0"/>
              <a:t>false negative</a:t>
            </a:r>
            <a:r>
              <a:rPr lang="en-SG" sz="2400" dirty="0"/>
              <a:t> means:</a:t>
            </a:r>
          </a:p>
          <a:p>
            <a:pPr>
              <a:buNone/>
            </a:pPr>
            <a:r>
              <a:rPr lang="en-SG" sz="2400" dirty="0"/>
              <a:t>The patient actually has cancer, but the model predicts </a:t>
            </a:r>
            <a:r>
              <a:rPr lang="en-SG" sz="2400" b="1" dirty="0"/>
              <a:t>No Cancer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From the matrix:</a:t>
            </a:r>
          </a:p>
          <a:p>
            <a:pPr>
              <a:buNone/>
            </a:pPr>
            <a:r>
              <a:rPr lang="en-SG" sz="2400" dirty="0"/>
              <a:t>FN=210 </a:t>
            </a:r>
          </a:p>
          <a:p>
            <a:pPr>
              <a:buNone/>
            </a:pPr>
            <a:r>
              <a:rPr lang="en-SG" sz="2400" dirty="0"/>
              <a:t>There are </a:t>
            </a:r>
            <a:r>
              <a:rPr lang="en-SG" sz="2400" b="1" dirty="0"/>
              <a:t>210 cancer patients who were missed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That is potentially much more serious than incorrectly sending a healthy person for additional testing.</a:t>
            </a:r>
          </a:p>
          <a:p>
            <a:pPr>
              <a:buNone/>
            </a:pPr>
            <a:r>
              <a:rPr lang="en-SG" sz="2400" dirty="0"/>
              <a:t>Therefore, in cancer screening, we generally prioritize </a:t>
            </a:r>
            <a:r>
              <a:rPr lang="en-SG" sz="2400" b="1" dirty="0"/>
              <a:t>high recall/sensitivity</a:t>
            </a:r>
            <a:r>
              <a:rPr lang="en-S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478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C44A92-C8AB-E559-4553-2BDB0FC41F2F}"/>
              </a:ext>
            </a:extLst>
          </p:cNvPr>
          <p:cNvSpPr txBox="1"/>
          <p:nvPr/>
        </p:nvSpPr>
        <p:spPr>
          <a:xfrm>
            <a:off x="174171" y="0"/>
            <a:ext cx="11887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2400" dirty="0"/>
              <a:t>The classifier has Accuracy=96.5% and Recall=30% </a:t>
            </a:r>
          </a:p>
          <a:p>
            <a:pPr>
              <a:buNone/>
            </a:pPr>
            <a:r>
              <a:rPr lang="en-SG" sz="2400" dirty="0"/>
              <a:t>That is very poor for cancer detection.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Why?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There are only </a:t>
            </a:r>
            <a:r>
              <a:rPr lang="en-SG" sz="2400" b="1" dirty="0"/>
              <a:t>300 cancer cases</a:t>
            </a:r>
            <a:r>
              <a:rPr lang="en-SG" sz="2400" dirty="0"/>
              <a:t> among </a:t>
            </a:r>
            <a:r>
              <a:rPr lang="en-SG" sz="2400" b="1" dirty="0"/>
              <a:t>10,000 patients</a:t>
            </a:r>
            <a:r>
              <a:rPr lang="en-SG" sz="2400" dirty="0"/>
              <a:t>.</a:t>
            </a:r>
          </a:p>
          <a:p>
            <a:pPr>
              <a:buNone/>
            </a:pPr>
            <a:r>
              <a:rPr lang="en-SG" sz="2400" dirty="0"/>
              <a:t>Most patients do </a:t>
            </a:r>
            <a:r>
              <a:rPr lang="en-SG" sz="2400" b="1" dirty="0"/>
              <a:t>not</a:t>
            </a:r>
            <a:r>
              <a:rPr lang="en-SG" sz="2400" dirty="0"/>
              <a:t> have cancer:</a:t>
            </a:r>
          </a:p>
          <a:p>
            <a:pPr>
              <a:buNone/>
            </a:pPr>
            <a:r>
              <a:rPr lang="en-SG" sz="2400" dirty="0"/>
              <a:t>9700/10000=97% </a:t>
            </a:r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So a classifier can obtain very high accuracy simply by being good at recognizing the majority </a:t>
            </a:r>
            <a:r>
              <a:rPr lang="en-SG" sz="2400" b="1" dirty="0"/>
              <a:t>No Cancer</a:t>
            </a:r>
            <a:r>
              <a:rPr lang="en-SG" sz="2400" dirty="0"/>
              <a:t> class.</a:t>
            </a:r>
          </a:p>
          <a:p>
            <a:pPr>
              <a:buNone/>
            </a:pPr>
            <a:endParaRPr lang="en-SG" sz="2400" b="1" dirty="0"/>
          </a:p>
          <a:p>
            <a:pPr>
              <a:buNone/>
            </a:pPr>
            <a:r>
              <a:rPr lang="en-SG" sz="2400" b="1" dirty="0"/>
              <a:t>The critical conclusion</a:t>
            </a:r>
          </a:p>
          <a:p>
            <a:pPr>
              <a:buNone/>
            </a:pPr>
            <a:r>
              <a:rPr lang="en-SG" sz="2400" b="1" dirty="0"/>
              <a:t>96.5% accuracy does NOT mean that the classifier is good at detecting cancer.</a:t>
            </a:r>
            <a:endParaRPr lang="en-SG" sz="2400" dirty="0"/>
          </a:p>
          <a:p>
            <a:pPr>
              <a:buNone/>
            </a:pPr>
            <a:endParaRPr lang="en-SG" sz="2400" dirty="0"/>
          </a:p>
          <a:p>
            <a:pPr>
              <a:buNone/>
            </a:pPr>
            <a:r>
              <a:rPr lang="en-SG" sz="2400" dirty="0"/>
              <a:t>For cancer screening, we would pay particular attention to:</a:t>
            </a:r>
          </a:p>
          <a:p>
            <a:pPr>
              <a:buNone/>
            </a:pPr>
            <a:r>
              <a:rPr lang="en-SG" sz="2400" dirty="0"/>
              <a:t>Recall/Sensitivity​ </a:t>
            </a:r>
          </a:p>
          <a:p>
            <a:pPr>
              <a:buNone/>
            </a:pPr>
            <a:r>
              <a:rPr lang="en-SG" sz="2400" dirty="0"/>
              <a:t>because we want to minimize </a:t>
            </a:r>
            <a:r>
              <a:rPr lang="en-SG" sz="2400" b="1" dirty="0"/>
              <a:t>False Negatives</a:t>
            </a:r>
            <a:r>
              <a:rPr lang="en-S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557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70705-61E6-1944-A50E-FA46167F0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447821"/>
              </p:ext>
            </p:extLst>
          </p:nvPr>
        </p:nvGraphicFramePr>
        <p:xfrm>
          <a:off x="642257" y="1143000"/>
          <a:ext cx="10515600" cy="4572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847375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878052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9505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Formula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/>
                        <a:t>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060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TP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571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TN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/>
                        <a:t>9560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53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FP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/>
                        <a:t>140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02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FN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/>
                        <a:t>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488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Precision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(TP/(TP+FP))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 b="1"/>
                        <a:t>39.13%</a:t>
                      </a:r>
                      <a:endParaRPr lang="en-SG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46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Recall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(TP/(TP+FN))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 b="1"/>
                        <a:t>30.00%</a:t>
                      </a:r>
                      <a:endParaRPr lang="en-SG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798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F1-Score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(2PR/(P+R))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 b="1"/>
                        <a:t>33.97%</a:t>
                      </a:r>
                      <a:endParaRPr lang="en-SG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2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Error Rate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((FP+FN)/N)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 b="1"/>
                        <a:t>3.50%</a:t>
                      </a:r>
                      <a:endParaRPr lang="en-SG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54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 b="1"/>
                        <a:t>Accuracy</a:t>
                      </a:r>
                      <a:endParaRPr lang="en-SG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2400"/>
                        <a:t>((TP+TN)/N)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SG" sz="2400" b="1" dirty="0"/>
                        <a:t>96.50%</a:t>
                      </a:r>
                      <a:endParaRPr lang="en-SG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228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978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32" ma:contentTypeDescription="Create a new document." ma:contentTypeScope="" ma:versionID="31379d159018cf51557c9ee72416c9e5">
  <xsd:schema xmlns:xsd="http://www.w3.org/2001/XMLSchema" xmlns:xs="http://www.w3.org/2001/XMLSchema" xmlns:p="http://schemas.microsoft.com/office/2006/metadata/properties" xmlns:ns2="2723f1bc-7802-4c44-b827-a549654b530e" xmlns:ns3="6ff44445-fac7-45dd-8e5c-25311f52d5a5" targetNamespace="http://schemas.microsoft.com/office/2006/metadata/properties" ma:root="true" ma:fieldsID="dc1c642aaabbb3f8347333d8d58ff573" ns2:_="" ns3:_="">
    <xsd:import namespace="2723f1bc-7802-4c44-b827-a549654b530e"/>
    <xsd:import namespace="6ff44445-fac7-45dd-8e5c-25311f52d5a5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44445-fac7-45dd-8e5c-25311f52d5a5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8af04174-827c-4965-96c7-e2203238ad05}" ma:internalName="TaxCatchAll" ma:showField="CatchAllData" ma:web="6ff44445-fac7-45dd-8e5c-25311f52d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2723f1bc-7802-4c44-b827-a549654b530e" xsi:nil="true"/>
    <FolderType xmlns="2723f1bc-7802-4c44-b827-a549654b530e" xsi:nil="true"/>
    <LMS_Mappings xmlns="2723f1bc-7802-4c44-b827-a549654b530e" xsi:nil="true"/>
    <TaxCatchAll xmlns="6ff44445-fac7-45dd-8e5c-25311f52d5a5" xsi:nil="true"/>
    <DefaultSectionNames xmlns="2723f1bc-7802-4c44-b827-a549654b530e" xsi:nil="true"/>
    <AppVersion xmlns="2723f1bc-7802-4c44-b827-a549654b530e" xsi:nil="true"/>
    <TeamsChannelId xmlns="2723f1bc-7802-4c44-b827-a549654b530e" xsi:nil="true"/>
    <IsNotebookLocked xmlns="2723f1bc-7802-4c44-b827-a549654b530e" xsi:nil="true"/>
    <CultureName xmlns="2723f1bc-7802-4c44-b827-a549654b530e" xsi:nil="true"/>
    <Students xmlns="2723f1bc-7802-4c44-b827-a549654b530e">
      <UserInfo>
        <DisplayName/>
        <AccountId xsi:nil="true"/>
        <AccountType/>
      </UserInfo>
    </Students>
    <lcf76f155ced4ddcb4097134ff3c332f xmlns="2723f1bc-7802-4c44-b827-a549654b530e">
      <Terms xmlns="http://schemas.microsoft.com/office/infopath/2007/PartnerControls"/>
    </lcf76f155ced4ddcb4097134ff3c332f>
    <Templates xmlns="2723f1bc-7802-4c44-b827-a549654b530e" xsi:nil="true"/>
    <Self_Registration_Enabled xmlns="2723f1bc-7802-4c44-b827-a549654b530e" xsi:nil="true"/>
    <Invited_Students xmlns="2723f1bc-7802-4c44-b827-a549654b530e" xsi:nil="true"/>
    <Teachers xmlns="2723f1bc-7802-4c44-b827-a549654b530e">
      <UserInfo>
        <DisplayName/>
        <AccountId xsi:nil="true"/>
        <AccountType/>
      </UserInfo>
    </Teachers>
    <Student_Groups xmlns="2723f1bc-7802-4c44-b827-a549654b530e">
      <UserInfo>
        <DisplayName/>
        <AccountId xsi:nil="true"/>
        <AccountType/>
      </UserInfo>
    </Student_Groups>
    <Teams_Channel_Section_Location xmlns="2723f1bc-7802-4c44-b827-a549654b530e" xsi:nil="true"/>
    <Owner xmlns="2723f1bc-7802-4c44-b827-a549654b530e">
      <UserInfo>
        <DisplayName/>
        <AccountId xsi:nil="true"/>
        <AccountType/>
      </UserInfo>
    </Owner>
    <Distribution_Groups xmlns="2723f1bc-7802-4c44-b827-a549654b530e" xsi:nil="true"/>
    <Math_Settings xmlns="2723f1bc-7802-4c44-b827-a549654b530e" xsi:nil="true"/>
    <Has_Teacher_Only_SectionGroup xmlns="2723f1bc-7802-4c44-b827-a549654b530e" xsi:nil="true"/>
    <Is_Collaboration_Space_Locked xmlns="2723f1bc-7802-4c44-b827-a549654b530e" xsi:nil="true"/>
    <Invited_Teachers xmlns="2723f1bc-7802-4c44-b827-a549654b530e" xsi:nil="true"/>
  </documentManagement>
</p:properties>
</file>

<file path=customXml/itemProps1.xml><?xml version="1.0" encoding="utf-8"?>
<ds:datastoreItem xmlns:ds="http://schemas.openxmlformats.org/officeDocument/2006/customXml" ds:itemID="{62186098-18FB-4D50-9FCB-956642C78A45}"/>
</file>

<file path=customXml/itemProps2.xml><?xml version="1.0" encoding="utf-8"?>
<ds:datastoreItem xmlns:ds="http://schemas.openxmlformats.org/officeDocument/2006/customXml" ds:itemID="{AAA7CF44-40B5-474C-B3AA-3A8263228E1A}"/>
</file>

<file path=customXml/itemProps3.xml><?xml version="1.0" encoding="utf-8"?>
<ds:datastoreItem xmlns:ds="http://schemas.openxmlformats.org/officeDocument/2006/customXml" ds:itemID="{5358D63E-C608-4CD8-8093-4DAA298F5502}"/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958</Words>
  <Application>Microsoft Office PowerPoint</Application>
  <PresentationFormat>Widescreen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Nivethitha Somu .</dc:creator>
  <cp:lastModifiedBy>Nivethitha Somu .</cp:lastModifiedBy>
  <cp:revision>6</cp:revision>
  <dcterms:created xsi:type="dcterms:W3CDTF">2026-08-23T02:39:33Z</dcterms:created>
  <dcterms:modified xsi:type="dcterms:W3CDTF">2026-08-23T06:48:46Z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0x0101008507BA72441AEE45A3CAE1ADD5070980</vt:lpwstr>
  </property>
</Properties>
</file>